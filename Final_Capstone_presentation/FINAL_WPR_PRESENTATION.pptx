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3"/>
  </p:notesMasterIdLst>
  <p:sldIdLst>
    <p:sldId id="256" r:id="rId2"/>
    <p:sldId id="257" r:id="rId3"/>
    <p:sldId id="258" r:id="rId4"/>
    <p:sldId id="263" r:id="rId5"/>
    <p:sldId id="260" r:id="rId6"/>
    <p:sldId id="262" r:id="rId7"/>
    <p:sldId id="261"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7D212C-A0CF-4817-9AE1-BE2B3C80515E}" v="10" dt="2026-05-25T04:08:51.0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8" d="100"/>
          <a:sy n="58" d="100"/>
        </p:scale>
        <p:origin x="98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ga Lakshmi N" userId="9598ef7ed350fd67" providerId="LiveId" clId="{F2B2E8FB-F92D-4A8E-A2BB-D09351CC60BB}"/>
    <pc:docChg chg="modSld sldOrd">
      <pc:chgData name="Yoga Lakshmi N" userId="9598ef7ed350fd67" providerId="LiveId" clId="{F2B2E8FB-F92D-4A8E-A2BB-D09351CC60BB}" dt="2026-05-25T04:09:33.763" v="33" actId="5793"/>
      <pc:docMkLst>
        <pc:docMk/>
      </pc:docMkLst>
      <pc:sldChg chg="modSp mod">
        <pc:chgData name="Yoga Lakshmi N" userId="9598ef7ed350fd67" providerId="LiveId" clId="{F2B2E8FB-F92D-4A8E-A2BB-D09351CC60BB}" dt="2026-05-25T04:09:33.763" v="33" actId="5793"/>
        <pc:sldMkLst>
          <pc:docMk/>
          <pc:sldMk cId="2211540223" sldId="260"/>
        </pc:sldMkLst>
        <pc:spChg chg="mod">
          <ac:chgData name="Yoga Lakshmi N" userId="9598ef7ed350fd67" providerId="LiveId" clId="{F2B2E8FB-F92D-4A8E-A2BB-D09351CC60BB}" dt="2026-05-25T04:09:33.763" v="33" actId="5793"/>
          <ac:spMkLst>
            <pc:docMk/>
            <pc:sldMk cId="2211540223" sldId="260"/>
            <ac:spMk id="5" creationId="{D099AD9B-D785-C85F-3D7C-0CCACA90C3C7}"/>
          </ac:spMkLst>
        </pc:spChg>
      </pc:sldChg>
      <pc:sldChg chg="ord">
        <pc:chgData name="Yoga Lakshmi N" userId="9598ef7ed350fd67" providerId="LiveId" clId="{F2B2E8FB-F92D-4A8E-A2BB-D09351CC60BB}" dt="2026-05-25T04:09:20.603" v="31"/>
        <pc:sldMkLst>
          <pc:docMk/>
          <pc:sldMk cId="1416610215" sldId="263"/>
        </pc:sldMkLst>
      </pc:sldChg>
      <pc:sldChg chg="addSp modSp mod">
        <pc:chgData name="Yoga Lakshmi N" userId="9598ef7ed350fd67" providerId="LiveId" clId="{F2B2E8FB-F92D-4A8E-A2BB-D09351CC60BB}" dt="2026-05-25T04:09:00.986" v="29" actId="2711"/>
        <pc:sldMkLst>
          <pc:docMk/>
          <pc:sldMk cId="869832241" sldId="266"/>
        </pc:sldMkLst>
        <pc:spChg chg="mod">
          <ac:chgData name="Yoga Lakshmi N" userId="9598ef7ed350fd67" providerId="LiveId" clId="{F2B2E8FB-F92D-4A8E-A2BB-D09351CC60BB}" dt="2026-05-25T04:05:14.202" v="6" actId="123"/>
          <ac:spMkLst>
            <pc:docMk/>
            <pc:sldMk cId="869832241" sldId="266"/>
            <ac:spMk id="19" creationId="{40334DB6-317E-5F55-67CD-AB69F5CE6564}"/>
          </ac:spMkLst>
        </pc:spChg>
        <pc:spChg chg="mod">
          <ac:chgData name="Yoga Lakshmi N" userId="9598ef7ed350fd67" providerId="LiveId" clId="{F2B2E8FB-F92D-4A8E-A2BB-D09351CC60BB}" dt="2026-05-25T04:06:46.481" v="16" actId="2711"/>
          <ac:spMkLst>
            <pc:docMk/>
            <pc:sldMk cId="869832241" sldId="266"/>
            <ac:spMk id="20" creationId="{1FA5ED1D-3F87-CD5C-062D-E7429AC0ACBF}"/>
          </ac:spMkLst>
        </pc:spChg>
        <pc:spChg chg="mod">
          <ac:chgData name="Yoga Lakshmi N" userId="9598ef7ed350fd67" providerId="LiveId" clId="{F2B2E8FB-F92D-4A8E-A2BB-D09351CC60BB}" dt="2026-05-25T04:07:48.931" v="25" actId="255"/>
          <ac:spMkLst>
            <pc:docMk/>
            <pc:sldMk cId="869832241" sldId="266"/>
            <ac:spMk id="21" creationId="{EC78E54A-4BAB-DDC8-C266-BDAE6C482AAC}"/>
          </ac:spMkLst>
        </pc:spChg>
        <pc:spChg chg="mod">
          <ac:chgData name="Yoga Lakshmi N" userId="9598ef7ed350fd67" providerId="LiveId" clId="{F2B2E8FB-F92D-4A8E-A2BB-D09351CC60BB}" dt="2026-05-25T04:06:19.354" v="13" actId="255"/>
          <ac:spMkLst>
            <pc:docMk/>
            <pc:sldMk cId="869832241" sldId="266"/>
            <ac:spMk id="22" creationId="{12787CAB-E470-CD04-2947-AC212E40CF4A}"/>
          </ac:spMkLst>
        </pc:spChg>
        <pc:spChg chg="add mod">
          <ac:chgData name="Yoga Lakshmi N" userId="9598ef7ed350fd67" providerId="LiveId" clId="{F2B2E8FB-F92D-4A8E-A2BB-D09351CC60BB}" dt="2026-05-25T04:09:00.986" v="29" actId="2711"/>
          <ac:spMkLst>
            <pc:docMk/>
            <pc:sldMk cId="869832241" sldId="266"/>
            <ac:spMk id="23" creationId="{AE417E24-038F-AC25-6377-E7B3B80909A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FDBA83-2462-4B95-8349-5A59A398C510}" type="datetimeFigureOut">
              <a:rPr lang="en-IN" smtClean="0"/>
              <a:t>25-05-2026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80985-F4DB-4A70-9089-F0F304E2D8DE}" type="slidenum">
              <a:rPr lang="en-IN" smtClean="0"/>
              <a:t>‹#›</a:t>
            </a:fld>
            <a:endParaRPr lang="en-IN"/>
          </a:p>
        </p:txBody>
      </p:sp>
    </p:spTree>
    <p:extLst>
      <p:ext uri="{BB962C8B-B14F-4D97-AF65-F5344CB8AC3E}">
        <p14:creationId xmlns:p14="http://schemas.microsoft.com/office/powerpoint/2010/main" val="3209850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887624-BDCB-4B2D-977E-4E12CFB02AF6}" type="datetime1">
              <a:rPr lang="en-IN" smtClean="0"/>
              <a:t>25-05-2026</a:t>
            </a:fld>
            <a:endParaRPr lang="en-IN"/>
          </a:p>
        </p:txBody>
      </p:sp>
      <p:sp>
        <p:nvSpPr>
          <p:cNvPr id="5" name="Footer Placeholder 4"/>
          <p:cNvSpPr>
            <a:spLocks noGrp="1"/>
          </p:cNvSpPr>
          <p:nvPr>
            <p:ph type="ftr" sz="quarter" idx="11"/>
          </p:nvPr>
        </p:nvSpPr>
        <p:spPr/>
        <p:txBody>
          <a:bodyPr/>
          <a:lstStyle/>
          <a:p>
            <a:r>
              <a:rPr lang="en-IN"/>
              <a:t>E-Commerce_Nykaa</a:t>
            </a:r>
          </a:p>
        </p:txBody>
      </p:sp>
      <p:sp>
        <p:nvSpPr>
          <p:cNvPr id="6" name="Slide Number Placeholder 5"/>
          <p:cNvSpPr>
            <a:spLocks noGrp="1"/>
          </p:cNvSpPr>
          <p:nvPr>
            <p:ph type="sldNum" sz="quarter" idx="12"/>
          </p:nvPr>
        </p:nvSpPr>
        <p:spPr/>
        <p:txBody>
          <a:bodyPr/>
          <a:lstStyle/>
          <a:p>
            <a:fld id="{13B295D0-E7BB-4758-B567-6B37F217A64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1958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4E3A11-6C87-4E5F-B079-0891030C6203}" type="datetime1">
              <a:rPr lang="en-IN" smtClean="0"/>
              <a:t>25-05-2026</a:t>
            </a:fld>
            <a:endParaRPr lang="en-IN"/>
          </a:p>
        </p:txBody>
      </p:sp>
      <p:sp>
        <p:nvSpPr>
          <p:cNvPr id="5" name="Footer Placeholder 4"/>
          <p:cNvSpPr>
            <a:spLocks noGrp="1"/>
          </p:cNvSpPr>
          <p:nvPr>
            <p:ph type="ftr" sz="quarter" idx="11"/>
          </p:nvPr>
        </p:nvSpPr>
        <p:spPr/>
        <p:txBody>
          <a:bodyPr/>
          <a:lstStyle/>
          <a:p>
            <a:r>
              <a:rPr lang="en-IN"/>
              <a:t>E-Commerce_Nykaa</a:t>
            </a:r>
          </a:p>
        </p:txBody>
      </p:sp>
      <p:sp>
        <p:nvSpPr>
          <p:cNvPr id="6" name="Slide Number Placeholder 5"/>
          <p:cNvSpPr>
            <a:spLocks noGrp="1"/>
          </p:cNvSpPr>
          <p:nvPr>
            <p:ph type="sldNum" sz="quarter" idx="12"/>
          </p:nvPr>
        </p:nvSpPr>
        <p:spPr/>
        <p:txBody>
          <a:bodyPr/>
          <a:lstStyle/>
          <a:p>
            <a:fld id="{13B295D0-E7BB-4758-B567-6B37F217A647}" type="slidenum">
              <a:rPr lang="en-IN" smtClean="0"/>
              <a:t>‹#›</a:t>
            </a:fld>
            <a:endParaRPr lang="en-IN"/>
          </a:p>
        </p:txBody>
      </p:sp>
    </p:spTree>
    <p:extLst>
      <p:ext uri="{BB962C8B-B14F-4D97-AF65-F5344CB8AC3E}">
        <p14:creationId xmlns:p14="http://schemas.microsoft.com/office/powerpoint/2010/main" val="331406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D951FB-5E5C-46C9-BB0A-6F9AC26EA54C}" type="datetime1">
              <a:rPr lang="en-IN" smtClean="0"/>
              <a:t>25-05-2026</a:t>
            </a:fld>
            <a:endParaRPr lang="en-IN"/>
          </a:p>
        </p:txBody>
      </p:sp>
      <p:sp>
        <p:nvSpPr>
          <p:cNvPr id="5" name="Footer Placeholder 4"/>
          <p:cNvSpPr>
            <a:spLocks noGrp="1"/>
          </p:cNvSpPr>
          <p:nvPr>
            <p:ph type="ftr" sz="quarter" idx="11"/>
          </p:nvPr>
        </p:nvSpPr>
        <p:spPr/>
        <p:txBody>
          <a:bodyPr/>
          <a:lstStyle/>
          <a:p>
            <a:r>
              <a:rPr lang="en-IN"/>
              <a:t>E-Commerce_Nykaa</a:t>
            </a:r>
          </a:p>
        </p:txBody>
      </p:sp>
      <p:sp>
        <p:nvSpPr>
          <p:cNvPr id="6" name="Slide Number Placeholder 5"/>
          <p:cNvSpPr>
            <a:spLocks noGrp="1"/>
          </p:cNvSpPr>
          <p:nvPr>
            <p:ph type="sldNum" sz="quarter" idx="12"/>
          </p:nvPr>
        </p:nvSpPr>
        <p:spPr/>
        <p:txBody>
          <a:bodyPr/>
          <a:lstStyle/>
          <a:p>
            <a:fld id="{13B295D0-E7BB-4758-B567-6B37F217A64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6659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8B1FEE-E809-4F5A-83B9-06BDB2C0F623}" type="datetime1">
              <a:rPr lang="en-IN" smtClean="0"/>
              <a:t>25-05-2026</a:t>
            </a:fld>
            <a:endParaRPr lang="en-IN"/>
          </a:p>
        </p:txBody>
      </p:sp>
      <p:sp>
        <p:nvSpPr>
          <p:cNvPr id="6" name="Footer Placeholder 5"/>
          <p:cNvSpPr>
            <a:spLocks noGrp="1"/>
          </p:cNvSpPr>
          <p:nvPr>
            <p:ph type="ftr" sz="quarter" idx="11"/>
          </p:nvPr>
        </p:nvSpPr>
        <p:spPr/>
        <p:txBody>
          <a:bodyPr/>
          <a:lstStyle/>
          <a:p>
            <a:r>
              <a:rPr lang="en-IN"/>
              <a:t>E-Commerce_Nykaa</a:t>
            </a:r>
          </a:p>
        </p:txBody>
      </p:sp>
      <p:sp>
        <p:nvSpPr>
          <p:cNvPr id="7" name="Slide Number Placeholder 6"/>
          <p:cNvSpPr>
            <a:spLocks noGrp="1"/>
          </p:cNvSpPr>
          <p:nvPr>
            <p:ph type="sldNum" sz="quarter" idx="12"/>
          </p:nvPr>
        </p:nvSpPr>
        <p:spPr/>
        <p:txBody>
          <a:bodyPr/>
          <a:lstStyle/>
          <a:p>
            <a:fld id="{13B295D0-E7BB-4758-B567-6B37F217A647}" type="slidenum">
              <a:rPr lang="en-IN" smtClean="0"/>
              <a:t>‹#›</a:t>
            </a:fld>
            <a:endParaRPr lang="en-IN"/>
          </a:p>
        </p:txBody>
      </p:sp>
    </p:spTree>
    <p:extLst>
      <p:ext uri="{BB962C8B-B14F-4D97-AF65-F5344CB8AC3E}">
        <p14:creationId xmlns:p14="http://schemas.microsoft.com/office/powerpoint/2010/main" val="35874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C3BF2B-898E-42C7-BD44-0B0BCA934215}" type="datetime1">
              <a:rPr lang="en-IN" smtClean="0"/>
              <a:t>25-05-2026</a:t>
            </a:fld>
            <a:endParaRPr lang="en-IN"/>
          </a:p>
        </p:txBody>
      </p:sp>
      <p:sp>
        <p:nvSpPr>
          <p:cNvPr id="8" name="Footer Placeholder 7"/>
          <p:cNvSpPr>
            <a:spLocks noGrp="1"/>
          </p:cNvSpPr>
          <p:nvPr>
            <p:ph type="ftr" sz="quarter" idx="11"/>
          </p:nvPr>
        </p:nvSpPr>
        <p:spPr/>
        <p:txBody>
          <a:bodyPr/>
          <a:lstStyle/>
          <a:p>
            <a:r>
              <a:rPr lang="en-IN"/>
              <a:t>E-Commerce_Nykaa</a:t>
            </a:r>
          </a:p>
        </p:txBody>
      </p:sp>
      <p:sp>
        <p:nvSpPr>
          <p:cNvPr id="9" name="Slide Number Placeholder 8"/>
          <p:cNvSpPr>
            <a:spLocks noGrp="1"/>
          </p:cNvSpPr>
          <p:nvPr>
            <p:ph type="sldNum" sz="quarter" idx="12"/>
          </p:nvPr>
        </p:nvSpPr>
        <p:spPr/>
        <p:txBody>
          <a:bodyPr/>
          <a:lstStyle/>
          <a:p>
            <a:fld id="{13B295D0-E7BB-4758-B567-6B37F217A647}" type="slidenum">
              <a:rPr lang="en-IN" smtClean="0"/>
              <a:t>‹#›</a:t>
            </a:fld>
            <a:endParaRPr lang="en-IN"/>
          </a:p>
        </p:txBody>
      </p:sp>
    </p:spTree>
    <p:extLst>
      <p:ext uri="{BB962C8B-B14F-4D97-AF65-F5344CB8AC3E}">
        <p14:creationId xmlns:p14="http://schemas.microsoft.com/office/powerpoint/2010/main" val="1004296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03D4D0-AC99-43AF-996C-8B24D1AB4831}" type="datetime1">
              <a:rPr lang="en-IN" smtClean="0"/>
              <a:t>25-05-2026</a:t>
            </a:fld>
            <a:endParaRPr lang="en-IN"/>
          </a:p>
        </p:txBody>
      </p:sp>
      <p:sp>
        <p:nvSpPr>
          <p:cNvPr id="4" name="Footer Placeholder 3"/>
          <p:cNvSpPr>
            <a:spLocks noGrp="1"/>
          </p:cNvSpPr>
          <p:nvPr>
            <p:ph type="ftr" sz="quarter" idx="11"/>
          </p:nvPr>
        </p:nvSpPr>
        <p:spPr/>
        <p:txBody>
          <a:bodyPr/>
          <a:lstStyle/>
          <a:p>
            <a:r>
              <a:rPr lang="en-IN"/>
              <a:t>E-Commerce_Nykaa</a:t>
            </a:r>
          </a:p>
        </p:txBody>
      </p:sp>
      <p:sp>
        <p:nvSpPr>
          <p:cNvPr id="5" name="Slide Number Placeholder 4"/>
          <p:cNvSpPr>
            <a:spLocks noGrp="1"/>
          </p:cNvSpPr>
          <p:nvPr>
            <p:ph type="sldNum" sz="quarter" idx="12"/>
          </p:nvPr>
        </p:nvSpPr>
        <p:spPr/>
        <p:txBody>
          <a:bodyPr/>
          <a:lstStyle/>
          <a:p>
            <a:fld id="{13B295D0-E7BB-4758-B567-6B37F217A647}" type="slidenum">
              <a:rPr lang="en-IN" smtClean="0"/>
              <a:t>‹#›</a:t>
            </a:fld>
            <a:endParaRPr lang="en-IN"/>
          </a:p>
        </p:txBody>
      </p:sp>
    </p:spTree>
    <p:extLst>
      <p:ext uri="{BB962C8B-B14F-4D97-AF65-F5344CB8AC3E}">
        <p14:creationId xmlns:p14="http://schemas.microsoft.com/office/powerpoint/2010/main" val="2044165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CC62D5A-D26B-42B7-9CE1-B6E5C2AB3C07}" type="datetime1">
              <a:rPr lang="en-IN" smtClean="0"/>
              <a:t>25-05-2026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E-Commerce_Nykaa</a:t>
            </a:r>
          </a:p>
        </p:txBody>
      </p:sp>
      <p:sp>
        <p:nvSpPr>
          <p:cNvPr id="9" name="Slide Number Placeholder 8"/>
          <p:cNvSpPr>
            <a:spLocks noGrp="1"/>
          </p:cNvSpPr>
          <p:nvPr>
            <p:ph type="sldNum" sz="quarter" idx="12"/>
          </p:nvPr>
        </p:nvSpPr>
        <p:spPr/>
        <p:txBody>
          <a:bodyPr/>
          <a:lstStyle/>
          <a:p>
            <a:fld id="{13B295D0-E7BB-4758-B567-6B37F217A647}" type="slidenum">
              <a:rPr lang="en-IN" smtClean="0"/>
              <a:t>‹#›</a:t>
            </a:fld>
            <a:endParaRPr lang="en-IN"/>
          </a:p>
        </p:txBody>
      </p:sp>
    </p:spTree>
    <p:extLst>
      <p:ext uri="{BB962C8B-B14F-4D97-AF65-F5344CB8AC3E}">
        <p14:creationId xmlns:p14="http://schemas.microsoft.com/office/powerpoint/2010/main" val="4009747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D23C778-91D4-4B96-B969-D06DD6108D23}" type="datetime1">
              <a:rPr lang="en-IN" smtClean="0"/>
              <a:t>25-05-2026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a:t>E-Commerce_Nykaa</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3B295D0-E7BB-4758-B567-6B37F217A647}" type="slidenum">
              <a:rPr lang="en-IN" smtClean="0"/>
              <a:t>‹#›</a:t>
            </a:fld>
            <a:endParaRPr lang="en-IN"/>
          </a:p>
        </p:txBody>
      </p:sp>
    </p:spTree>
    <p:extLst>
      <p:ext uri="{BB962C8B-B14F-4D97-AF65-F5344CB8AC3E}">
        <p14:creationId xmlns:p14="http://schemas.microsoft.com/office/powerpoint/2010/main" val="2694686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9FB8A5-904E-46AF-9E98-CF035CC9B4AB}" type="datetime1">
              <a:rPr lang="en-IN" smtClean="0"/>
              <a:t>25-05-2026</a:t>
            </a:fld>
            <a:endParaRPr lang="en-IN"/>
          </a:p>
        </p:txBody>
      </p:sp>
      <p:sp>
        <p:nvSpPr>
          <p:cNvPr id="6" name="Footer Placeholder 5"/>
          <p:cNvSpPr>
            <a:spLocks noGrp="1"/>
          </p:cNvSpPr>
          <p:nvPr>
            <p:ph type="ftr" sz="quarter" idx="11"/>
          </p:nvPr>
        </p:nvSpPr>
        <p:spPr/>
        <p:txBody>
          <a:bodyPr/>
          <a:lstStyle/>
          <a:p>
            <a:r>
              <a:rPr lang="en-IN"/>
              <a:t>E-Commerce_Nykaa</a:t>
            </a:r>
          </a:p>
        </p:txBody>
      </p:sp>
      <p:sp>
        <p:nvSpPr>
          <p:cNvPr id="7" name="Slide Number Placeholder 6"/>
          <p:cNvSpPr>
            <a:spLocks noGrp="1"/>
          </p:cNvSpPr>
          <p:nvPr>
            <p:ph type="sldNum" sz="quarter" idx="12"/>
          </p:nvPr>
        </p:nvSpPr>
        <p:spPr/>
        <p:txBody>
          <a:bodyPr/>
          <a:lstStyle/>
          <a:p>
            <a:fld id="{13B295D0-E7BB-4758-B567-6B37F217A647}" type="slidenum">
              <a:rPr lang="en-IN" smtClean="0"/>
              <a:t>‹#›</a:t>
            </a:fld>
            <a:endParaRPr lang="en-IN"/>
          </a:p>
        </p:txBody>
      </p:sp>
    </p:spTree>
    <p:extLst>
      <p:ext uri="{BB962C8B-B14F-4D97-AF65-F5344CB8AC3E}">
        <p14:creationId xmlns:p14="http://schemas.microsoft.com/office/powerpoint/2010/main" val="1794699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C69187-3D01-4295-9023-6E9CD8D4BCC6}" type="datetime1">
              <a:rPr lang="en-IN" smtClean="0"/>
              <a:t>25-05-2026</a:t>
            </a:fld>
            <a:endParaRPr lang="en-IN"/>
          </a:p>
        </p:txBody>
      </p:sp>
      <p:sp>
        <p:nvSpPr>
          <p:cNvPr id="5" name="Footer Placeholder 4"/>
          <p:cNvSpPr>
            <a:spLocks noGrp="1"/>
          </p:cNvSpPr>
          <p:nvPr>
            <p:ph type="ftr" sz="quarter" idx="11"/>
          </p:nvPr>
        </p:nvSpPr>
        <p:spPr/>
        <p:txBody>
          <a:bodyPr/>
          <a:lstStyle/>
          <a:p>
            <a:r>
              <a:rPr lang="en-IN"/>
              <a:t>E-Commerce_Nykaa</a:t>
            </a:r>
          </a:p>
        </p:txBody>
      </p:sp>
      <p:sp>
        <p:nvSpPr>
          <p:cNvPr id="6" name="Slide Number Placeholder 5"/>
          <p:cNvSpPr>
            <a:spLocks noGrp="1"/>
          </p:cNvSpPr>
          <p:nvPr>
            <p:ph type="sldNum" sz="quarter" idx="12"/>
          </p:nvPr>
        </p:nvSpPr>
        <p:spPr/>
        <p:txBody>
          <a:bodyPr/>
          <a:lstStyle/>
          <a:p>
            <a:fld id="{13B295D0-E7BB-4758-B567-6B37F217A647}" type="slidenum">
              <a:rPr lang="en-IN" smtClean="0"/>
              <a:t>‹#›</a:t>
            </a:fld>
            <a:endParaRPr lang="en-IN"/>
          </a:p>
        </p:txBody>
      </p:sp>
    </p:spTree>
    <p:extLst>
      <p:ext uri="{BB962C8B-B14F-4D97-AF65-F5344CB8AC3E}">
        <p14:creationId xmlns:p14="http://schemas.microsoft.com/office/powerpoint/2010/main" val="2570308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3C90DA-BC58-4300-A190-1133EC7D99C5}" type="datetime1">
              <a:rPr lang="en-IN" smtClean="0"/>
              <a:t>25-05-2026</a:t>
            </a:fld>
            <a:endParaRPr lang="en-IN"/>
          </a:p>
        </p:txBody>
      </p:sp>
      <p:sp>
        <p:nvSpPr>
          <p:cNvPr id="5" name="Footer Placeholder 4"/>
          <p:cNvSpPr>
            <a:spLocks noGrp="1"/>
          </p:cNvSpPr>
          <p:nvPr>
            <p:ph type="ftr" sz="quarter" idx="11"/>
          </p:nvPr>
        </p:nvSpPr>
        <p:spPr/>
        <p:txBody>
          <a:bodyPr/>
          <a:lstStyle/>
          <a:p>
            <a:r>
              <a:rPr lang="en-IN"/>
              <a:t>E-Commerce_Nykaa</a:t>
            </a:r>
          </a:p>
        </p:txBody>
      </p:sp>
      <p:sp>
        <p:nvSpPr>
          <p:cNvPr id="6" name="Slide Number Placeholder 5"/>
          <p:cNvSpPr>
            <a:spLocks noGrp="1"/>
          </p:cNvSpPr>
          <p:nvPr>
            <p:ph type="sldNum" sz="quarter" idx="12"/>
          </p:nvPr>
        </p:nvSpPr>
        <p:spPr/>
        <p:txBody>
          <a:bodyPr/>
          <a:lstStyle/>
          <a:p>
            <a:fld id="{13B295D0-E7BB-4758-B567-6B37F217A647}" type="slidenum">
              <a:rPr lang="en-IN" smtClean="0"/>
              <a:t>‹#›</a:t>
            </a:fld>
            <a:endParaRPr lang="en-IN"/>
          </a:p>
        </p:txBody>
      </p:sp>
    </p:spTree>
    <p:extLst>
      <p:ext uri="{BB962C8B-B14F-4D97-AF65-F5344CB8AC3E}">
        <p14:creationId xmlns:p14="http://schemas.microsoft.com/office/powerpoint/2010/main" val="4072401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EA23B24-83BA-41F3-B390-20E20CC3682F}" type="datetime1">
              <a:rPr lang="en-IN" smtClean="0"/>
              <a:t>25-05-2026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a:t>E-Commerce_Nykaa</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3B295D0-E7BB-4758-B567-6B37F217A647}"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8904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631FEBF-D8DF-95B4-BCED-32FAF7E94C68}"/>
              </a:ext>
            </a:extLst>
          </p:cNvPr>
          <p:cNvSpPr>
            <a:spLocks noGrp="1"/>
          </p:cNvSpPr>
          <p:nvPr>
            <p:ph type="subTitle" idx="1"/>
          </p:nvPr>
        </p:nvSpPr>
        <p:spPr>
          <a:xfrm>
            <a:off x="1485900" y="751114"/>
            <a:ext cx="9220200" cy="3755571"/>
          </a:xfrm>
        </p:spPr>
        <p:txBody>
          <a:bodyPr/>
          <a:lstStyle/>
          <a:p>
            <a:pPr algn="ctr"/>
            <a:r>
              <a:rPr lang="en-IN" sz="2600" b="1" dirty="0">
                <a:solidFill>
                  <a:schemeClr val="tx1"/>
                </a:solidFill>
                <a:latin typeface="Times New Roman" panose="02020603050405020304" pitchFamily="18" charset="0"/>
                <a:cs typeface="Times New Roman" panose="02020603050405020304" pitchFamily="18" charset="0"/>
              </a:rPr>
              <a:t>WIPRO NGA SELENIUM WITH PYTHON </a:t>
            </a:r>
          </a:p>
          <a:p>
            <a:pPr algn="ctr"/>
            <a:r>
              <a:rPr lang="en-IN" sz="2600" b="1" dirty="0">
                <a:solidFill>
                  <a:schemeClr val="tx1"/>
                </a:solidFill>
                <a:latin typeface="Times New Roman" panose="02020603050405020304" pitchFamily="18" charset="0"/>
                <a:cs typeface="Times New Roman" panose="02020603050405020304" pitchFamily="18" charset="0"/>
              </a:rPr>
              <a:t>APRIL 2026 | BATCH 2 </a:t>
            </a: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US" b="1" dirty="0">
                <a:solidFill>
                  <a:schemeClr val="tx1"/>
                </a:solidFill>
                <a:latin typeface="Times New Roman" panose="02020603050405020304" pitchFamily="18" charset="0"/>
                <a:cs typeface="Times New Roman" panose="02020603050405020304" pitchFamily="18" charset="0"/>
              </a:rPr>
              <a:t>CAPSTONE PROJECT </a:t>
            </a:r>
          </a:p>
          <a:p>
            <a:pPr algn="ctr"/>
            <a:r>
              <a:rPr lang="en-US" sz="2000" b="1" dirty="0">
                <a:solidFill>
                  <a:schemeClr val="tx1"/>
                </a:solidFill>
                <a:latin typeface="Times New Roman" panose="02020603050405020304" pitchFamily="18" charset="0"/>
                <a:cs typeface="Times New Roman" panose="02020603050405020304" pitchFamily="18" charset="0"/>
              </a:rPr>
              <a:t>PROJECT CASE STUDY</a:t>
            </a:r>
            <a:r>
              <a:rPr lang="en-US" sz="2000" dirty="0">
                <a:solidFill>
                  <a:schemeClr val="tx1"/>
                </a:solidFill>
                <a:latin typeface="Times New Roman" panose="02020603050405020304" pitchFamily="18" charset="0"/>
                <a:cs typeface="Times New Roman" panose="02020603050405020304" pitchFamily="18" charset="0"/>
              </a:rPr>
              <a:t> – E-Commerce </a:t>
            </a:r>
          </a:p>
          <a:p>
            <a:pPr algn="ctr"/>
            <a:r>
              <a:rPr lang="en-US" sz="2000" b="1" dirty="0">
                <a:solidFill>
                  <a:schemeClr val="tx1"/>
                </a:solidFill>
                <a:latin typeface="Times New Roman" panose="02020603050405020304" pitchFamily="18" charset="0"/>
                <a:cs typeface="Times New Roman" panose="02020603050405020304" pitchFamily="18" charset="0"/>
              </a:rPr>
              <a:t>PROJECT WEBSITE </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Nykaa</a:t>
            </a:r>
            <a:r>
              <a:rPr lang="en-US" sz="2000" dirty="0">
                <a:solidFill>
                  <a:schemeClr val="tx1"/>
                </a:solidFill>
                <a:latin typeface="Times New Roman" panose="02020603050405020304" pitchFamily="18" charset="0"/>
                <a:cs typeface="Times New Roman" panose="02020603050405020304" pitchFamily="18" charset="0"/>
              </a:rPr>
              <a:t> </a:t>
            </a:r>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3B2A489-E15D-9170-9786-FE4DAC4329B0}"/>
              </a:ext>
            </a:extLst>
          </p:cNvPr>
          <p:cNvPicPr>
            <a:picLocks noChangeAspect="1"/>
          </p:cNvPicPr>
          <p:nvPr/>
        </p:nvPicPr>
        <p:blipFill>
          <a:blip r:embed="rId2"/>
          <a:stretch>
            <a:fillRect/>
          </a:stretch>
        </p:blipFill>
        <p:spPr>
          <a:xfrm>
            <a:off x="753427" y="629929"/>
            <a:ext cx="1464945" cy="1111250"/>
          </a:xfrm>
          <a:prstGeom prst="rect">
            <a:avLst/>
          </a:prstGeom>
        </p:spPr>
      </p:pic>
      <p:sp>
        <p:nvSpPr>
          <p:cNvPr id="8" name="Footer Placeholder 7">
            <a:extLst>
              <a:ext uri="{FF2B5EF4-FFF2-40B4-BE49-F238E27FC236}">
                <a16:creationId xmlns:a16="http://schemas.microsoft.com/office/drawing/2014/main" id="{28107456-08B3-BEEB-38BD-709257D615EB}"/>
              </a:ext>
            </a:extLst>
          </p:cNvPr>
          <p:cNvSpPr>
            <a:spLocks noGrp="1"/>
          </p:cNvSpPr>
          <p:nvPr>
            <p:ph type="ftr" sz="quarter" idx="11"/>
          </p:nvPr>
        </p:nvSpPr>
        <p:spPr/>
        <p:txBody>
          <a:bodyPr/>
          <a:lstStyle/>
          <a:p>
            <a:r>
              <a:rPr lang="en-IN"/>
              <a:t>E-Commerce_Nykaa</a:t>
            </a:r>
          </a:p>
        </p:txBody>
      </p:sp>
      <p:sp>
        <p:nvSpPr>
          <p:cNvPr id="9" name="Slide Number Placeholder 8">
            <a:extLst>
              <a:ext uri="{FF2B5EF4-FFF2-40B4-BE49-F238E27FC236}">
                <a16:creationId xmlns:a16="http://schemas.microsoft.com/office/drawing/2014/main" id="{686BC257-8E0D-A5EC-574D-FF26D98C039A}"/>
              </a:ext>
            </a:extLst>
          </p:cNvPr>
          <p:cNvSpPr>
            <a:spLocks noGrp="1"/>
          </p:cNvSpPr>
          <p:nvPr>
            <p:ph type="sldNum" sz="quarter" idx="12"/>
          </p:nvPr>
        </p:nvSpPr>
        <p:spPr/>
        <p:txBody>
          <a:bodyPr/>
          <a:lstStyle/>
          <a:p>
            <a:fld id="{13B295D0-E7BB-4758-B567-6B37F217A647}" type="slidenum">
              <a:rPr lang="en-IN" smtClean="0"/>
              <a:t>1</a:t>
            </a:fld>
            <a:endParaRPr lang="en-IN"/>
          </a:p>
        </p:txBody>
      </p:sp>
      <p:sp>
        <p:nvSpPr>
          <p:cNvPr id="10" name="TextBox 9">
            <a:extLst>
              <a:ext uri="{FF2B5EF4-FFF2-40B4-BE49-F238E27FC236}">
                <a16:creationId xmlns:a16="http://schemas.microsoft.com/office/drawing/2014/main" id="{4DA46173-06BE-7537-C372-D4ED68EF2AEC}"/>
              </a:ext>
            </a:extLst>
          </p:cNvPr>
          <p:cNvSpPr txBox="1"/>
          <p:nvPr/>
        </p:nvSpPr>
        <p:spPr>
          <a:xfrm>
            <a:off x="9256480" y="5737554"/>
            <a:ext cx="2599980" cy="369332"/>
          </a:xfrm>
          <a:prstGeom prst="rect">
            <a:avLst/>
          </a:prstGeom>
          <a:noFill/>
        </p:spPr>
        <p:txBody>
          <a:bodyPr wrap="square" rtlCol="0">
            <a:spAutoFit/>
          </a:bodyPr>
          <a:lstStyle/>
          <a:p>
            <a:r>
              <a:rPr lang="en-US" dirty="0"/>
              <a:t>DATE: 25-05-2026</a:t>
            </a:r>
            <a:endParaRPr lang="en-IN" dirty="0"/>
          </a:p>
        </p:txBody>
      </p:sp>
    </p:spTree>
    <p:extLst>
      <p:ext uri="{BB962C8B-B14F-4D97-AF65-F5344CB8AC3E}">
        <p14:creationId xmlns:p14="http://schemas.microsoft.com/office/powerpoint/2010/main" val="3676934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8D091-DB0C-FF25-33C9-05D25A174FE0}"/>
              </a:ext>
            </a:extLst>
          </p:cNvPr>
          <p:cNvSpPr>
            <a:spLocks noGrp="1"/>
          </p:cNvSpPr>
          <p:nvPr>
            <p:ph type="title"/>
          </p:nvPr>
        </p:nvSpPr>
        <p:spPr/>
        <p:txBody>
          <a:bodyPr/>
          <a:lstStyle/>
          <a:p>
            <a:r>
              <a:rPr lang="en-US" b="1" dirty="0">
                <a:solidFill>
                  <a:schemeClr val="accent1"/>
                </a:solidFill>
                <a:latin typeface="Times New Roman" panose="02020603050405020304" pitchFamily="18" charset="0"/>
                <a:cs typeface="Times New Roman" panose="02020603050405020304" pitchFamily="18" charset="0"/>
              </a:rPr>
              <a:t>CONTRIBUTION OF THE TEAM</a:t>
            </a:r>
            <a:endParaRPr lang="en-IN" b="1"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D1C3FF-66E2-087F-9038-5E1F6C9D4284}"/>
              </a:ext>
            </a:extLst>
          </p:cNvPr>
          <p:cNvSpPr>
            <a:spLocks noGrp="1"/>
          </p:cNvSpPr>
          <p:nvPr>
            <p:ph idx="1"/>
          </p:nvPr>
        </p:nvSpPr>
        <p:spPr>
          <a:xfrm>
            <a:off x="1097280" y="2049136"/>
            <a:ext cx="10058400" cy="3819957"/>
          </a:xfrm>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Yoga Lakshmi N – Men Category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Kunal Chauhan – Fragrance Category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Nishant Kumar – Hair Category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Alish Rani – Makeup Category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Harsh Singh – Skin Category</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Krishna Kant Soni – Health and Wellness Category</a:t>
            </a:r>
          </a:p>
          <a:p>
            <a:pPr>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Badrinadh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Cheetirala</a:t>
            </a:r>
            <a:r>
              <a:rPr lang="en-US" dirty="0">
                <a:latin typeface="Times New Roman" panose="02020603050405020304" pitchFamily="18" charset="0"/>
                <a:cs typeface="Times New Roman" panose="02020603050405020304" pitchFamily="18" charset="0"/>
              </a:rPr>
              <a:t> – Mom and Baby Category</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2ED98DE5-502A-D7E1-F4B9-76A7B0805125}"/>
              </a:ext>
            </a:extLst>
          </p:cNvPr>
          <p:cNvSpPr>
            <a:spLocks noGrp="1"/>
          </p:cNvSpPr>
          <p:nvPr>
            <p:ph type="ftr" sz="quarter" idx="11"/>
          </p:nvPr>
        </p:nvSpPr>
        <p:spPr/>
        <p:txBody>
          <a:bodyPr/>
          <a:lstStyle/>
          <a:p>
            <a:r>
              <a:rPr lang="en-IN"/>
              <a:t>E-Commerce_Nykaa</a:t>
            </a:r>
          </a:p>
        </p:txBody>
      </p:sp>
      <p:sp>
        <p:nvSpPr>
          <p:cNvPr id="8" name="Slide Number Placeholder 7">
            <a:extLst>
              <a:ext uri="{FF2B5EF4-FFF2-40B4-BE49-F238E27FC236}">
                <a16:creationId xmlns:a16="http://schemas.microsoft.com/office/drawing/2014/main" id="{B767A529-A91F-4CA3-2F3E-35FD80DA3534}"/>
              </a:ext>
            </a:extLst>
          </p:cNvPr>
          <p:cNvSpPr>
            <a:spLocks noGrp="1"/>
          </p:cNvSpPr>
          <p:nvPr>
            <p:ph type="sldNum" sz="quarter" idx="12"/>
          </p:nvPr>
        </p:nvSpPr>
        <p:spPr/>
        <p:txBody>
          <a:bodyPr/>
          <a:lstStyle/>
          <a:p>
            <a:fld id="{13B295D0-E7BB-4758-B567-6B37F217A647}" type="slidenum">
              <a:rPr lang="en-IN" smtClean="0"/>
              <a:t>2</a:t>
            </a:fld>
            <a:endParaRPr lang="en-IN"/>
          </a:p>
        </p:txBody>
      </p:sp>
    </p:spTree>
    <p:extLst>
      <p:ext uri="{BB962C8B-B14F-4D97-AF65-F5344CB8AC3E}">
        <p14:creationId xmlns:p14="http://schemas.microsoft.com/office/powerpoint/2010/main" val="1747532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86E6B-6C69-FA40-07A0-EF89AB69BD73}"/>
              </a:ext>
            </a:extLst>
          </p:cNvPr>
          <p:cNvSpPr>
            <a:spLocks noGrp="1"/>
          </p:cNvSpPr>
          <p:nvPr>
            <p:ph type="title"/>
          </p:nvPr>
        </p:nvSpPr>
        <p:spPr/>
        <p:txBody>
          <a:bodyPr/>
          <a:lstStyle/>
          <a:p>
            <a:r>
              <a:rPr lang="en-IN" b="1" dirty="0">
                <a:solidFill>
                  <a:schemeClr val="accent1"/>
                </a:solidFill>
                <a:latin typeface="Times New Roman" panose="02020603050405020304" pitchFamily="18" charset="0"/>
                <a:cs typeface="Times New Roman" panose="02020603050405020304" pitchFamily="18" charset="0"/>
              </a:rPr>
              <a:t>Test Automation Overview</a:t>
            </a:r>
          </a:p>
        </p:txBody>
      </p:sp>
      <p:sp>
        <p:nvSpPr>
          <p:cNvPr id="3" name="Content Placeholder 2">
            <a:extLst>
              <a:ext uri="{FF2B5EF4-FFF2-40B4-BE49-F238E27FC236}">
                <a16:creationId xmlns:a16="http://schemas.microsoft.com/office/drawing/2014/main" id="{68A6C149-8232-03ED-1676-5617B6D03F9D}"/>
              </a:ext>
            </a:extLst>
          </p:cNvPr>
          <p:cNvSpPr>
            <a:spLocks noGrp="1"/>
          </p:cNvSpPr>
          <p:nvPr>
            <p:ph idx="1"/>
          </p:nvPr>
        </p:nvSpPr>
        <p:spPr>
          <a:xfrm>
            <a:off x="1299990" y="1948476"/>
            <a:ext cx="9672810" cy="4023360"/>
          </a:xfrm>
        </p:spPr>
        <p:txBody>
          <a:bodyPr>
            <a:noAutofit/>
          </a:bodyPr>
          <a:lstStyle/>
          <a:p>
            <a:pPr marL="0" indent="0">
              <a:buNone/>
            </a:pPr>
            <a:r>
              <a:rPr lang="en-US" sz="1600" b="1" dirty="0">
                <a:solidFill>
                  <a:schemeClr val="accent1"/>
                </a:solidFill>
                <a:latin typeface="Times New Roman" panose="02020603050405020304" pitchFamily="18" charset="0"/>
                <a:cs typeface="Times New Roman" panose="02020603050405020304" pitchFamily="18" charset="0"/>
              </a:rPr>
              <a:t>Selenium (</a:t>
            </a:r>
            <a:r>
              <a:rPr lang="en-US" sz="1600" b="1" dirty="0" err="1">
                <a:solidFill>
                  <a:schemeClr val="accent1"/>
                </a:solidFill>
                <a:latin typeface="Times New Roman" panose="02020603050405020304" pitchFamily="18" charset="0"/>
                <a:cs typeface="Times New Roman" panose="02020603050405020304" pitchFamily="18" charset="0"/>
              </a:rPr>
              <a:t>Pytest</a:t>
            </a:r>
            <a:r>
              <a:rPr lang="en-US" sz="1600" b="1" dirty="0">
                <a:solidFill>
                  <a:schemeClr val="accent1"/>
                </a:solidFill>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POM, Parametrization, Exception Handling, Robust Locators. </a:t>
            </a:r>
          </a:p>
          <a:p>
            <a:pPr marL="0" indent="0">
              <a:buNone/>
            </a:pPr>
            <a:r>
              <a:rPr lang="en-IN" sz="1600" b="1" dirty="0">
                <a:solidFill>
                  <a:schemeClr val="accent1"/>
                </a:solidFill>
                <a:latin typeface="Times New Roman" panose="02020603050405020304" pitchFamily="18" charset="0"/>
                <a:cs typeface="Times New Roman" panose="02020603050405020304" pitchFamily="18" charset="0"/>
              </a:rPr>
              <a:t>BDD (Behave + Selenium):</a:t>
            </a:r>
          </a:p>
          <a:p>
            <a:pPr marL="0" indent="0">
              <a:buNone/>
            </a:pPr>
            <a:r>
              <a:rPr lang="en-IN" sz="1600" dirty="0">
                <a:latin typeface="Times New Roman" panose="02020603050405020304" pitchFamily="18" charset="0"/>
                <a:cs typeface="Times New Roman" panose="02020603050405020304" pitchFamily="18" charset="0"/>
              </a:rPr>
              <a:t>Gherkin Scenarios, Scenario Outline, Examples Table, Data Tables (Filters, Products, Payments), Parametrization, Exception Handling, Robust Locators</a:t>
            </a: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solidFill>
                  <a:schemeClr val="accent1"/>
                </a:solidFill>
                <a:latin typeface="Times New Roman" panose="02020603050405020304" pitchFamily="18" charset="0"/>
                <a:cs typeface="Times New Roman" panose="02020603050405020304" pitchFamily="18" charset="0"/>
              </a:rPr>
              <a:t>Test Coverage:</a:t>
            </a:r>
          </a:p>
          <a:p>
            <a:pPr marL="0" indent="0">
              <a:buNone/>
            </a:pPr>
            <a:r>
              <a:rPr lang="en-US" sz="1600" dirty="0">
                <a:latin typeface="Times New Roman" panose="02020603050405020304" pitchFamily="18" charset="0"/>
                <a:cs typeface="Times New Roman" panose="02020603050405020304" pitchFamily="18" charset="0"/>
              </a:rPr>
              <a:t>End‑to‑End | Positive | Negative | Edge</a:t>
            </a:r>
          </a:p>
          <a:p>
            <a:pPr marL="0" indent="0">
              <a:buNone/>
            </a:pPr>
            <a:r>
              <a:rPr lang="en-US" sz="1600" b="1" dirty="0">
                <a:solidFill>
                  <a:schemeClr val="accent1"/>
                </a:solidFill>
                <a:latin typeface="Times New Roman" panose="02020603050405020304" pitchFamily="18" charset="0"/>
                <a:cs typeface="Times New Roman" panose="02020603050405020304" pitchFamily="18" charset="0"/>
              </a:rPr>
              <a:t>Tools and Framework:</a:t>
            </a:r>
          </a:p>
          <a:p>
            <a:pPr marL="0" indent="0">
              <a:buNone/>
            </a:pPr>
            <a:r>
              <a:rPr lang="en-IN" sz="1600" dirty="0">
                <a:latin typeface="Times New Roman" panose="02020603050405020304" pitchFamily="18" charset="0"/>
                <a:cs typeface="Times New Roman" panose="02020603050405020304" pitchFamily="18" charset="0"/>
              </a:rPr>
              <a:t>Selenium, </a:t>
            </a:r>
            <a:r>
              <a:rPr lang="en-IN" sz="1600" dirty="0" err="1">
                <a:latin typeface="Times New Roman" panose="02020603050405020304" pitchFamily="18" charset="0"/>
                <a:cs typeface="Times New Roman" panose="02020603050405020304" pitchFamily="18" charset="0"/>
              </a:rPr>
              <a:t>Pytest</a:t>
            </a:r>
            <a:r>
              <a:rPr lang="en-IN" sz="1600" dirty="0">
                <a:latin typeface="Times New Roman" panose="02020603050405020304" pitchFamily="18" charset="0"/>
                <a:cs typeface="Times New Roman" panose="02020603050405020304" pitchFamily="18" charset="0"/>
              </a:rPr>
              <a:t>, Allure Reporting</a:t>
            </a:r>
            <a:endParaRPr lang="en-US" sz="1600" dirty="0">
              <a:latin typeface="Times New Roman" panose="02020603050405020304" pitchFamily="18" charset="0"/>
              <a:cs typeface="Times New Roman" panose="02020603050405020304" pitchFamily="18" charset="0"/>
            </a:endParaRPr>
          </a:p>
          <a:p>
            <a:pPr marL="0" indent="0">
              <a:buNone/>
            </a:pPr>
            <a:r>
              <a:rPr lang="en-IN" sz="1600" b="1" dirty="0">
                <a:solidFill>
                  <a:schemeClr val="accent1"/>
                </a:solidFill>
                <a:latin typeface="Times New Roman" panose="02020603050405020304" pitchFamily="18" charset="0"/>
                <a:cs typeface="Times New Roman" panose="02020603050405020304" pitchFamily="18" charset="0"/>
              </a:rPr>
              <a:t>Utilities &amp; Data:</a:t>
            </a:r>
          </a:p>
          <a:p>
            <a:pPr marL="0" indent="0">
              <a:buNone/>
            </a:pPr>
            <a:r>
              <a:rPr lang="en-IN" sz="1600" dirty="0">
                <a:latin typeface="Times New Roman" panose="02020603050405020304" pitchFamily="18" charset="0"/>
                <a:cs typeface="Times New Roman" panose="02020603050405020304" pitchFamily="18" charset="0"/>
              </a:rPr>
              <a:t>Excel and CSV(Data‑Driven), Logger, Screenshots, Config</a:t>
            </a:r>
          </a:p>
          <a:p>
            <a:pPr marL="0" inden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25776E2-BFEA-F533-9B4E-73FFC361CB93}"/>
              </a:ext>
            </a:extLst>
          </p:cNvPr>
          <p:cNvSpPr>
            <a:spLocks noGrp="1"/>
          </p:cNvSpPr>
          <p:nvPr>
            <p:ph type="ftr" sz="quarter" idx="11"/>
          </p:nvPr>
        </p:nvSpPr>
        <p:spPr/>
        <p:txBody>
          <a:bodyPr/>
          <a:lstStyle/>
          <a:p>
            <a:r>
              <a:rPr lang="en-IN"/>
              <a:t>E-Commerce_Nykaa</a:t>
            </a:r>
          </a:p>
        </p:txBody>
      </p:sp>
      <p:sp>
        <p:nvSpPr>
          <p:cNvPr id="5" name="Slide Number Placeholder 4">
            <a:extLst>
              <a:ext uri="{FF2B5EF4-FFF2-40B4-BE49-F238E27FC236}">
                <a16:creationId xmlns:a16="http://schemas.microsoft.com/office/drawing/2014/main" id="{2B2A959A-5C33-94A6-7664-4665544DA27F}"/>
              </a:ext>
            </a:extLst>
          </p:cNvPr>
          <p:cNvSpPr>
            <a:spLocks noGrp="1"/>
          </p:cNvSpPr>
          <p:nvPr>
            <p:ph type="sldNum" sz="quarter" idx="12"/>
          </p:nvPr>
        </p:nvSpPr>
        <p:spPr/>
        <p:txBody>
          <a:bodyPr/>
          <a:lstStyle/>
          <a:p>
            <a:fld id="{13B295D0-E7BB-4758-B567-6B37F217A647}" type="slidenum">
              <a:rPr lang="en-IN" smtClean="0"/>
              <a:t>3</a:t>
            </a:fld>
            <a:endParaRPr lang="en-IN"/>
          </a:p>
        </p:txBody>
      </p:sp>
    </p:spTree>
    <p:extLst>
      <p:ext uri="{BB962C8B-B14F-4D97-AF65-F5344CB8AC3E}">
        <p14:creationId xmlns:p14="http://schemas.microsoft.com/office/powerpoint/2010/main" val="906031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5EA51D3-D643-79F7-712D-1724DC81129B}"/>
              </a:ext>
            </a:extLst>
          </p:cNvPr>
          <p:cNvSpPr>
            <a:spLocks noGrp="1"/>
          </p:cNvSpPr>
          <p:nvPr>
            <p:ph type="ftr" sz="quarter" idx="11"/>
          </p:nvPr>
        </p:nvSpPr>
        <p:spPr/>
        <p:txBody>
          <a:bodyPr/>
          <a:lstStyle/>
          <a:p>
            <a:r>
              <a:rPr lang="en-IN"/>
              <a:t>E-Commerce_Nykaa</a:t>
            </a:r>
          </a:p>
        </p:txBody>
      </p:sp>
      <p:sp>
        <p:nvSpPr>
          <p:cNvPr id="3" name="Slide Number Placeholder 2">
            <a:extLst>
              <a:ext uri="{FF2B5EF4-FFF2-40B4-BE49-F238E27FC236}">
                <a16:creationId xmlns:a16="http://schemas.microsoft.com/office/drawing/2014/main" id="{284C0023-436F-6B12-938A-7B6C551C9336}"/>
              </a:ext>
            </a:extLst>
          </p:cNvPr>
          <p:cNvSpPr>
            <a:spLocks noGrp="1"/>
          </p:cNvSpPr>
          <p:nvPr>
            <p:ph type="sldNum" sz="quarter" idx="12"/>
          </p:nvPr>
        </p:nvSpPr>
        <p:spPr/>
        <p:txBody>
          <a:bodyPr/>
          <a:lstStyle/>
          <a:p>
            <a:fld id="{13B295D0-E7BB-4758-B567-6B37F217A647}" type="slidenum">
              <a:rPr lang="en-IN" smtClean="0"/>
              <a:t>4</a:t>
            </a:fld>
            <a:endParaRPr lang="en-IN"/>
          </a:p>
        </p:txBody>
      </p:sp>
      <p:sp>
        <p:nvSpPr>
          <p:cNvPr id="4" name="Footer Placeholder 1">
            <a:extLst>
              <a:ext uri="{FF2B5EF4-FFF2-40B4-BE49-F238E27FC236}">
                <a16:creationId xmlns:a16="http://schemas.microsoft.com/office/drawing/2014/main" id="{C06B36DA-D878-CE75-0B94-D374A6C5F2CE}"/>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5" name="Slide Number Placeholder 2">
            <a:extLst>
              <a:ext uri="{FF2B5EF4-FFF2-40B4-BE49-F238E27FC236}">
                <a16:creationId xmlns:a16="http://schemas.microsoft.com/office/drawing/2014/main" id="{94587262-DB8C-FAA5-A369-761448E0F672}"/>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4</a:t>
            </a:fld>
            <a:endParaRPr lang="en-IN"/>
          </a:p>
        </p:txBody>
      </p:sp>
      <p:sp>
        <p:nvSpPr>
          <p:cNvPr id="6" name="Content Placeholder 2">
            <a:extLst>
              <a:ext uri="{FF2B5EF4-FFF2-40B4-BE49-F238E27FC236}">
                <a16:creationId xmlns:a16="http://schemas.microsoft.com/office/drawing/2014/main" id="{7A8F3F07-A9D0-419D-7171-0622E5475427}"/>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7" name="Footer Placeholder 1">
            <a:extLst>
              <a:ext uri="{FF2B5EF4-FFF2-40B4-BE49-F238E27FC236}">
                <a16:creationId xmlns:a16="http://schemas.microsoft.com/office/drawing/2014/main" id="{CB17DEB4-6A90-6780-84A7-59531FAC2117}"/>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8" name="Slide Number Placeholder 2">
            <a:extLst>
              <a:ext uri="{FF2B5EF4-FFF2-40B4-BE49-F238E27FC236}">
                <a16:creationId xmlns:a16="http://schemas.microsoft.com/office/drawing/2014/main" id="{7AEA6863-C3CA-5331-DFA1-1F7747BD61A4}"/>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4</a:t>
            </a:fld>
            <a:endParaRPr lang="en-IN"/>
          </a:p>
        </p:txBody>
      </p:sp>
      <p:sp>
        <p:nvSpPr>
          <p:cNvPr id="9" name="Content Placeholder 2">
            <a:extLst>
              <a:ext uri="{FF2B5EF4-FFF2-40B4-BE49-F238E27FC236}">
                <a16:creationId xmlns:a16="http://schemas.microsoft.com/office/drawing/2014/main" id="{5A4BB809-169E-8556-327A-C5D66D654E15}"/>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10" name="Footer Placeholder 1">
            <a:extLst>
              <a:ext uri="{FF2B5EF4-FFF2-40B4-BE49-F238E27FC236}">
                <a16:creationId xmlns:a16="http://schemas.microsoft.com/office/drawing/2014/main" id="{6C92FB6D-198B-7D66-A418-FB5F6B7841D9}"/>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11" name="Slide Number Placeholder 2">
            <a:extLst>
              <a:ext uri="{FF2B5EF4-FFF2-40B4-BE49-F238E27FC236}">
                <a16:creationId xmlns:a16="http://schemas.microsoft.com/office/drawing/2014/main" id="{A46BF245-F8C3-DECA-75D0-230C4A4C3839}"/>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4</a:t>
            </a:fld>
            <a:endParaRPr lang="en-IN"/>
          </a:p>
        </p:txBody>
      </p:sp>
      <p:sp>
        <p:nvSpPr>
          <p:cNvPr id="12" name="Content Placeholder 2">
            <a:extLst>
              <a:ext uri="{FF2B5EF4-FFF2-40B4-BE49-F238E27FC236}">
                <a16:creationId xmlns:a16="http://schemas.microsoft.com/office/drawing/2014/main" id="{02477769-F8F4-E6AD-C12A-CFE1E715E298}"/>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13" name="Content Placeholder 2">
            <a:extLst>
              <a:ext uri="{FF2B5EF4-FFF2-40B4-BE49-F238E27FC236}">
                <a16:creationId xmlns:a16="http://schemas.microsoft.com/office/drawing/2014/main" id="{5D6B9035-DEDB-CA0F-4B87-2AE98573EB21}"/>
              </a:ext>
            </a:extLst>
          </p:cNvPr>
          <p:cNvSpPr txBox="1">
            <a:spLocks/>
          </p:cNvSpPr>
          <p:nvPr/>
        </p:nvSpPr>
        <p:spPr>
          <a:xfrm>
            <a:off x="275422" y="308472"/>
            <a:ext cx="11534660"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sz="2600" b="1" dirty="0">
                <a:solidFill>
                  <a:schemeClr val="accent1"/>
                </a:solidFill>
                <a:latin typeface="Times New Roman" panose="02020603050405020304" pitchFamily="18" charset="0"/>
                <a:cs typeface="Times New Roman" panose="02020603050405020304" pitchFamily="18" charset="0"/>
              </a:rPr>
              <a:t>HAIR MODULE:</a:t>
            </a:r>
          </a:p>
          <a:p>
            <a:pPr marL="0" indent="0">
              <a:buNone/>
            </a:pPr>
            <a:r>
              <a:rPr lang="en-US" sz="1600" dirty="0">
                <a:latin typeface="Times New Roman" panose="02020603050405020304" pitchFamily="18" charset="0"/>
                <a:cs typeface="Times New Roman" panose="02020603050405020304" pitchFamily="18" charset="0"/>
              </a:rPr>
              <a:t>	This module automates the complete shampoo shopping flow on the </a:t>
            </a:r>
            <a:r>
              <a:rPr lang="en-US" sz="1600" dirty="0" err="1">
                <a:latin typeface="Times New Roman" panose="02020603050405020304" pitchFamily="18" charset="0"/>
                <a:cs typeface="Times New Roman" panose="02020603050405020304" pitchFamily="18" charset="0"/>
              </a:rPr>
              <a:t>Nykaa</a:t>
            </a:r>
            <a:r>
              <a:rPr lang="en-US" sz="1600" dirty="0">
                <a:latin typeface="Times New Roman" panose="02020603050405020304" pitchFamily="18" charset="0"/>
                <a:cs typeface="Times New Roman" panose="02020603050405020304" pitchFamily="18" charset="0"/>
              </a:rPr>
              <a:t> application. It validates key functionalities such as category navigation, product filters, product selection, cart management, and checkout process. The framework ensures end‑to‑end user journey testing using Selenium with POM and </a:t>
            </a:r>
            <a:r>
              <a:rPr lang="en-US" sz="1600" dirty="0" err="1">
                <a:latin typeface="Times New Roman" panose="02020603050405020304" pitchFamily="18" charset="0"/>
                <a:cs typeface="Times New Roman" panose="02020603050405020304" pitchFamily="18" charset="0"/>
              </a:rPr>
              <a:t>Pytest</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CA5A281-B8ED-118D-52DB-C1EE7C9CCF54}"/>
              </a:ext>
            </a:extLst>
          </p:cNvPr>
          <p:cNvSpPr txBox="1"/>
          <p:nvPr/>
        </p:nvSpPr>
        <p:spPr>
          <a:xfrm>
            <a:off x="6308993" y="1613932"/>
            <a:ext cx="5607585" cy="1354217"/>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Positive Test Cases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Add Product to Cart Test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Cart Page Access Test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Guest Checkout Flow Test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Address Form Submission Test </a:t>
            </a:r>
          </a:p>
        </p:txBody>
      </p:sp>
      <p:sp>
        <p:nvSpPr>
          <p:cNvPr id="15" name="TextBox 14">
            <a:extLst>
              <a:ext uri="{FF2B5EF4-FFF2-40B4-BE49-F238E27FC236}">
                <a16:creationId xmlns:a16="http://schemas.microsoft.com/office/drawing/2014/main" id="{A64CE1BD-0538-FF3D-CC5B-B52044FFCD26}"/>
              </a:ext>
            </a:extLst>
          </p:cNvPr>
          <p:cNvSpPr txBox="1"/>
          <p:nvPr/>
        </p:nvSpPr>
        <p:spPr>
          <a:xfrm>
            <a:off x="6308993" y="3172381"/>
            <a:ext cx="5089793" cy="861774"/>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Negative Test Cases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Invalid </a:t>
            </a:r>
            <a:r>
              <a:rPr lang="en-US" sz="1600" dirty="0" err="1">
                <a:latin typeface="Times New Roman" panose="02020603050405020304" pitchFamily="18" charset="0"/>
                <a:cs typeface="Times New Roman" panose="02020603050405020304" pitchFamily="18" charset="0"/>
              </a:rPr>
              <a:t>Pincode</a:t>
            </a:r>
            <a:r>
              <a:rPr lang="en-US" sz="1600" dirty="0">
                <a:latin typeface="Times New Roman" panose="02020603050405020304" pitchFamily="18" charset="0"/>
                <a:cs typeface="Times New Roman" panose="02020603050405020304" pitchFamily="18" charset="0"/>
              </a:rPr>
              <a:t> Validation Test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Empty Address Field Validation Test  </a:t>
            </a:r>
          </a:p>
        </p:txBody>
      </p:sp>
      <p:sp>
        <p:nvSpPr>
          <p:cNvPr id="16" name="TextBox 15">
            <a:extLst>
              <a:ext uri="{FF2B5EF4-FFF2-40B4-BE49-F238E27FC236}">
                <a16:creationId xmlns:a16="http://schemas.microsoft.com/office/drawing/2014/main" id="{1B5F3CC9-4CF2-F8AB-C86F-B88A33D17264}"/>
              </a:ext>
            </a:extLst>
          </p:cNvPr>
          <p:cNvSpPr txBox="1"/>
          <p:nvPr/>
        </p:nvSpPr>
        <p:spPr>
          <a:xfrm>
            <a:off x="462707" y="1613932"/>
            <a:ext cx="5739789" cy="4339650"/>
          </a:xfrm>
          <a:prstGeom prst="rect">
            <a:avLst/>
          </a:prstGeom>
          <a:noFill/>
        </p:spPr>
        <p:txBody>
          <a:bodyPr wrap="square" rtlCol="0">
            <a:spAutoFit/>
          </a:bodyPr>
          <a:lstStyle/>
          <a:p>
            <a:r>
              <a:rPr lang="en-US" b="1" dirty="0">
                <a:solidFill>
                  <a:schemeClr val="accent1"/>
                </a:solidFill>
                <a:latin typeface="Times New Roman" panose="02020603050405020304" pitchFamily="18" charset="0"/>
                <a:ea typeface="Tahoma" panose="020B0604030504040204" pitchFamily="34" charset="0"/>
                <a:cs typeface="Times New Roman" panose="02020603050405020304" pitchFamily="18" charset="0"/>
              </a:rPr>
              <a:t>End-to-End Test Case</a:t>
            </a:r>
          </a:p>
          <a:p>
            <a:r>
              <a:rPr lang="en-US" sz="1600" dirty="0">
                <a:latin typeface="Times New Roman" panose="02020603050405020304" pitchFamily="18" charset="0"/>
                <a:cs typeface="Times New Roman" panose="02020603050405020304" pitchFamily="18" charset="0"/>
              </a:rPr>
              <a:t>1. Launch the </a:t>
            </a:r>
            <a:r>
              <a:rPr lang="en-US" sz="1600" dirty="0" err="1">
                <a:latin typeface="Times New Roman" panose="02020603050405020304" pitchFamily="18" charset="0"/>
                <a:cs typeface="Times New Roman" panose="02020603050405020304" pitchFamily="18" charset="0"/>
              </a:rPr>
              <a:t>Nykaa</a:t>
            </a:r>
            <a:r>
              <a:rPr lang="en-US" sz="1600" dirty="0">
                <a:latin typeface="Times New Roman" panose="02020603050405020304" pitchFamily="18" charset="0"/>
                <a:cs typeface="Times New Roman" panose="02020603050405020304" pitchFamily="18" charset="0"/>
              </a:rPr>
              <a:t> website.</a:t>
            </a:r>
          </a:p>
          <a:p>
            <a:r>
              <a:rPr lang="en-US" sz="1600" dirty="0">
                <a:latin typeface="Times New Roman" panose="02020603050405020304" pitchFamily="18" charset="0"/>
                <a:cs typeface="Times New Roman" panose="02020603050405020304" pitchFamily="18" charset="0"/>
              </a:rPr>
              <a:t>2. Navigate to the Hair Module from the homepage.</a:t>
            </a:r>
          </a:p>
          <a:p>
            <a:r>
              <a:rPr lang="en-US" sz="1600" dirty="0">
                <a:latin typeface="Times New Roman" panose="02020603050405020304" pitchFamily="18" charset="0"/>
                <a:cs typeface="Times New Roman" panose="02020603050405020304" pitchFamily="18" charset="0"/>
              </a:rPr>
              <a:t>3. Selects the Shampoo Section.</a:t>
            </a:r>
          </a:p>
          <a:p>
            <a:r>
              <a:rPr lang="en-US" sz="1600" dirty="0">
                <a:latin typeface="Times New Roman" panose="02020603050405020304" pitchFamily="18" charset="0"/>
                <a:cs typeface="Times New Roman" panose="02020603050405020304" pitchFamily="18" charset="0"/>
              </a:rPr>
              <a:t>4. Apply product filters such as Discount.</a:t>
            </a:r>
          </a:p>
          <a:p>
            <a:r>
              <a:rPr lang="en-US" sz="1600" dirty="0">
                <a:latin typeface="Times New Roman" panose="02020603050405020304" pitchFamily="18" charset="0"/>
                <a:cs typeface="Times New Roman" panose="02020603050405020304" pitchFamily="18" charset="0"/>
              </a:rPr>
              <a:t>6. Selects the first featured product from product list.</a:t>
            </a:r>
          </a:p>
          <a:p>
            <a:r>
              <a:rPr lang="en-US" sz="1600" dirty="0">
                <a:latin typeface="Times New Roman" panose="02020603050405020304" pitchFamily="18" charset="0"/>
                <a:cs typeface="Times New Roman" panose="02020603050405020304" pitchFamily="18" charset="0"/>
              </a:rPr>
              <a:t>7. Redirect to the product details page.</a:t>
            </a:r>
          </a:p>
          <a:p>
            <a:r>
              <a:rPr lang="en-US" sz="1600" dirty="0">
                <a:latin typeface="Times New Roman" panose="02020603050405020304" pitchFamily="18" charset="0"/>
                <a:cs typeface="Times New Roman" panose="02020603050405020304" pitchFamily="18" charset="0"/>
              </a:rPr>
              <a:t>8. Validate product information and availability.</a:t>
            </a:r>
          </a:p>
          <a:p>
            <a:r>
              <a:rPr lang="en-US" sz="1600" dirty="0">
                <a:latin typeface="Times New Roman" panose="02020603050405020304" pitchFamily="18" charset="0"/>
                <a:cs typeface="Times New Roman" panose="02020603050405020304" pitchFamily="18" charset="0"/>
              </a:rPr>
              <a:t>9. Click on Add to Bag.</a:t>
            </a:r>
          </a:p>
          <a:p>
            <a:r>
              <a:rPr lang="en-US" sz="1600" dirty="0">
                <a:latin typeface="Times New Roman" panose="02020603050405020304" pitchFamily="18" charset="0"/>
                <a:cs typeface="Times New Roman" panose="02020603050405020304" pitchFamily="18" charset="0"/>
              </a:rPr>
              <a:t>10. Open the shopping cart/bag section.</a:t>
            </a:r>
          </a:p>
          <a:p>
            <a:r>
              <a:rPr lang="en-US" sz="1600" dirty="0">
                <a:latin typeface="Times New Roman" panose="02020603050405020304" pitchFamily="18" charset="0"/>
                <a:cs typeface="Times New Roman" panose="02020603050405020304" pitchFamily="18" charset="0"/>
              </a:rPr>
              <a:t>11. Validate added product in the cart.</a:t>
            </a:r>
          </a:p>
          <a:p>
            <a:r>
              <a:rPr lang="en-US" sz="1600" dirty="0">
                <a:latin typeface="Times New Roman" panose="02020603050405020304" pitchFamily="18" charset="0"/>
                <a:cs typeface="Times New Roman" panose="02020603050405020304" pitchFamily="18" charset="0"/>
              </a:rPr>
              <a:t>12. Click on Proceed to continue checkout flow.</a:t>
            </a:r>
          </a:p>
          <a:p>
            <a:r>
              <a:rPr lang="en-US" sz="1600" dirty="0">
                <a:latin typeface="Times New Roman" panose="02020603050405020304" pitchFamily="18" charset="0"/>
                <a:cs typeface="Times New Roman" panose="02020603050405020304" pitchFamily="18" charset="0"/>
              </a:rPr>
              <a:t>13. Handles Checkout as Guest Popup.</a:t>
            </a:r>
          </a:p>
          <a:p>
            <a:r>
              <a:rPr lang="en-US" sz="1600" dirty="0">
                <a:latin typeface="Times New Roman" panose="02020603050405020304" pitchFamily="18" charset="0"/>
                <a:cs typeface="Times New Roman" panose="02020603050405020304" pitchFamily="18" charset="0"/>
              </a:rPr>
              <a:t>14. Fetch data from CSV File to fill Address Section.</a:t>
            </a:r>
          </a:p>
          <a:p>
            <a:r>
              <a:rPr lang="en-US" sz="1600" dirty="0">
                <a:latin typeface="Times New Roman" panose="02020603050405020304" pitchFamily="18" charset="0"/>
                <a:cs typeface="Times New Roman" panose="02020603050405020304" pitchFamily="18" charset="0"/>
              </a:rPr>
              <a:t>16. Click on Ship to this Address Button to continue.</a:t>
            </a:r>
          </a:p>
          <a:p>
            <a:r>
              <a:rPr lang="en-US" sz="1600" dirty="0">
                <a:latin typeface="Times New Roman" panose="02020603050405020304" pitchFamily="18" charset="0"/>
                <a:cs typeface="Times New Roman" panose="02020603050405020304" pitchFamily="18" charset="0"/>
              </a:rPr>
              <a:t>17. Verify successful navigation towards checkout/payment page.</a:t>
            </a:r>
          </a:p>
          <a:p>
            <a:endParaRPr lang="en-IN" dirty="0"/>
          </a:p>
        </p:txBody>
      </p:sp>
    </p:spTree>
    <p:extLst>
      <p:ext uri="{BB962C8B-B14F-4D97-AF65-F5344CB8AC3E}">
        <p14:creationId xmlns:p14="http://schemas.microsoft.com/office/powerpoint/2010/main" val="1416610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5D36469-8556-539A-6739-E68930F06733}"/>
              </a:ext>
            </a:extLst>
          </p:cNvPr>
          <p:cNvSpPr>
            <a:spLocks noGrp="1"/>
          </p:cNvSpPr>
          <p:nvPr>
            <p:ph type="ftr" sz="quarter" idx="11"/>
          </p:nvPr>
        </p:nvSpPr>
        <p:spPr/>
        <p:txBody>
          <a:bodyPr/>
          <a:lstStyle/>
          <a:p>
            <a:r>
              <a:rPr lang="en-IN" dirty="0"/>
              <a:t>E-</a:t>
            </a:r>
            <a:r>
              <a:rPr lang="en-IN" dirty="0" err="1"/>
              <a:t>Commerce_Nykaa</a:t>
            </a:r>
            <a:endParaRPr lang="en-IN" dirty="0"/>
          </a:p>
        </p:txBody>
      </p:sp>
      <p:sp>
        <p:nvSpPr>
          <p:cNvPr id="3" name="Slide Number Placeholder 2">
            <a:extLst>
              <a:ext uri="{FF2B5EF4-FFF2-40B4-BE49-F238E27FC236}">
                <a16:creationId xmlns:a16="http://schemas.microsoft.com/office/drawing/2014/main" id="{8BD09192-F9FF-DF3C-DF6A-2D44ABAC255B}"/>
              </a:ext>
            </a:extLst>
          </p:cNvPr>
          <p:cNvSpPr>
            <a:spLocks noGrp="1"/>
          </p:cNvSpPr>
          <p:nvPr>
            <p:ph type="sldNum" sz="quarter" idx="12"/>
          </p:nvPr>
        </p:nvSpPr>
        <p:spPr/>
        <p:txBody>
          <a:bodyPr/>
          <a:lstStyle/>
          <a:p>
            <a:fld id="{13B295D0-E7BB-4758-B567-6B37F217A647}" type="slidenum">
              <a:rPr lang="en-IN" smtClean="0"/>
              <a:t>5</a:t>
            </a:fld>
            <a:endParaRPr lang="en-IN"/>
          </a:p>
        </p:txBody>
      </p:sp>
      <p:sp>
        <p:nvSpPr>
          <p:cNvPr id="4" name="Content Placeholder 2">
            <a:extLst>
              <a:ext uri="{FF2B5EF4-FFF2-40B4-BE49-F238E27FC236}">
                <a16:creationId xmlns:a16="http://schemas.microsoft.com/office/drawing/2014/main" id="{12343680-4C5D-A686-50D0-C982775D7A93}"/>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099AD9B-D785-C85F-3D7C-0CCACA90C3C7}"/>
              </a:ext>
            </a:extLst>
          </p:cNvPr>
          <p:cNvSpPr txBox="1">
            <a:spLocks/>
          </p:cNvSpPr>
          <p:nvPr/>
        </p:nvSpPr>
        <p:spPr>
          <a:xfrm>
            <a:off x="275422" y="308472"/>
            <a:ext cx="11534660"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sz="2600" b="1" dirty="0">
                <a:solidFill>
                  <a:schemeClr val="accent1"/>
                </a:solidFill>
                <a:latin typeface="Times New Roman" panose="02020603050405020304" pitchFamily="18" charset="0"/>
                <a:cs typeface="Times New Roman" panose="02020603050405020304" pitchFamily="18" charset="0"/>
              </a:rPr>
              <a:t>MEN MODULE:</a:t>
            </a:r>
          </a:p>
          <a:p>
            <a:pPr marL="0" indent="0">
              <a:buNone/>
            </a:pPr>
            <a:r>
              <a:rPr lang="en-US" sz="1600" dirty="0">
                <a:latin typeface="Times New Roman" panose="02020603050405020304" pitchFamily="18" charset="0"/>
                <a:cs typeface="Times New Roman" panose="02020603050405020304" pitchFamily="18" charset="0"/>
              </a:rPr>
              <a:t>	This module focuses on the Men category of the application. It includes testing functionalities like product navigation, filtering, sorting, and validation. The module ensures smooth user flow and proper integration with the overall automation framework.</a:t>
            </a:r>
          </a:p>
          <a:p>
            <a:pPr marL="0" indent="0">
              <a:buNone/>
            </a:pPr>
            <a:endParaRPr lang="en-IN"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9A1AE38-16AF-87A2-1922-4E0133E60736}"/>
              </a:ext>
            </a:extLst>
          </p:cNvPr>
          <p:cNvSpPr txBox="1"/>
          <p:nvPr/>
        </p:nvSpPr>
        <p:spPr>
          <a:xfrm>
            <a:off x="627961" y="1608463"/>
            <a:ext cx="5468039" cy="2616101"/>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Positive Test Cases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Navigation Flow → Home → Payment → Pass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Apply Filter (Valid Brand: Dove / Gucci) → Pass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Search (Valid Input: Serums) → Pass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Sorting Functionality → Pass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Add to Cart → Cart Verification → Pass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Checkout Navigation → Pass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Empty Cart Validation → Pass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Shipping Details (Valid Flow) → Pass</a:t>
            </a:r>
          </a:p>
          <a:p>
            <a:endParaRPr lang="en-IN" dirty="0"/>
          </a:p>
        </p:txBody>
      </p:sp>
      <p:sp>
        <p:nvSpPr>
          <p:cNvPr id="7" name="TextBox 6">
            <a:extLst>
              <a:ext uri="{FF2B5EF4-FFF2-40B4-BE49-F238E27FC236}">
                <a16:creationId xmlns:a16="http://schemas.microsoft.com/office/drawing/2014/main" id="{26357468-7D6C-82CE-AE87-61FF601572D4}"/>
              </a:ext>
            </a:extLst>
          </p:cNvPr>
          <p:cNvSpPr txBox="1"/>
          <p:nvPr/>
        </p:nvSpPr>
        <p:spPr>
          <a:xfrm>
            <a:off x="6235546" y="1608463"/>
            <a:ext cx="5089793" cy="2369880"/>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Negative Test Cases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Invalid Filter (</a:t>
            </a:r>
            <a:r>
              <a:rPr lang="en-IN" sz="1600" dirty="0" err="1">
                <a:latin typeface="Times New Roman" panose="02020603050405020304" pitchFamily="18" charset="0"/>
                <a:cs typeface="Times New Roman" panose="02020603050405020304" pitchFamily="18" charset="0"/>
              </a:rPr>
              <a:t>InvalidBrand</a:t>
            </a:r>
            <a:r>
              <a:rPr lang="en-IN" sz="1600" dirty="0">
                <a:latin typeface="Times New Roman" panose="02020603050405020304" pitchFamily="18" charset="0"/>
                <a:cs typeface="Times New Roman" panose="02020603050405020304" pitchFamily="18" charset="0"/>
              </a:rPr>
              <a:t>) → No results → Pass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Invalid </a:t>
            </a:r>
            <a:r>
              <a:rPr lang="en-IN" sz="1600" dirty="0" err="1">
                <a:latin typeface="Times New Roman" panose="02020603050405020304" pitchFamily="18" charset="0"/>
                <a:cs typeface="Times New Roman" panose="02020603050405020304" pitchFamily="18" charset="0"/>
              </a:rPr>
              <a:t>Pincode</a:t>
            </a:r>
            <a:r>
              <a:rPr lang="en-IN" sz="1600" dirty="0">
                <a:latin typeface="Times New Roman" panose="02020603050405020304" pitchFamily="18" charset="0"/>
                <a:cs typeface="Times New Roman" panose="02020603050405020304" pitchFamily="18" charset="0"/>
              </a:rPr>
              <a:t> → Error message → Pass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Invalid Search (@@@@ / @$%^) → Error handled → Pass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Shipping Details (Invalid input) → Error message → Pass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OTP Login Flow → Fail (Automation restriction)</a:t>
            </a:r>
          </a:p>
          <a:p>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7989632-7D88-63DE-9232-892FF62C154A}"/>
              </a:ext>
            </a:extLst>
          </p:cNvPr>
          <p:cNvSpPr txBox="1"/>
          <p:nvPr/>
        </p:nvSpPr>
        <p:spPr>
          <a:xfrm>
            <a:off x="627961" y="4224564"/>
            <a:ext cx="10774497" cy="1877437"/>
          </a:xfrm>
          <a:prstGeom prst="rect">
            <a:avLst/>
          </a:prstGeom>
          <a:noFill/>
        </p:spPr>
        <p:txBody>
          <a:bodyPr wrap="square" rtlCol="0">
            <a:spAutoFit/>
          </a:bodyPr>
          <a:lstStyle/>
          <a:p>
            <a:r>
              <a:rPr lang="en-US" b="1" dirty="0">
                <a:solidFill>
                  <a:schemeClr val="accent1"/>
                </a:solidFill>
                <a:latin typeface="Times New Roman" panose="02020603050405020304" pitchFamily="18" charset="0"/>
                <a:ea typeface="Tahoma" panose="020B0604030504040204" pitchFamily="34" charset="0"/>
                <a:cs typeface="Times New Roman" panose="02020603050405020304" pitchFamily="18" charset="0"/>
              </a:rPr>
              <a:t>End-to-End Test Case</a:t>
            </a:r>
          </a:p>
          <a:p>
            <a:r>
              <a:rPr lang="en-US" sz="1600" b="1" dirty="0">
                <a:solidFill>
                  <a:schemeClr val="accent1"/>
                </a:solidFill>
                <a:latin typeface="Times New Roman" panose="02020603050405020304" pitchFamily="18" charset="0"/>
                <a:ea typeface="Tahoma" panose="020B0604030504040204" pitchFamily="34" charset="0"/>
                <a:cs typeface="Times New Roman" panose="02020603050405020304" pitchFamily="18" charset="0"/>
              </a:rPr>
              <a:t>Full Flow: </a:t>
            </a:r>
            <a:r>
              <a:rPr lang="en-US" sz="1600" dirty="0">
                <a:latin typeface="Times New Roman" panose="02020603050405020304" pitchFamily="18" charset="0"/>
                <a:ea typeface="Tahoma" panose="020B0604030504040204" pitchFamily="34" charset="0"/>
                <a:cs typeface="Times New Roman" panose="02020603050405020304" pitchFamily="18" charset="0"/>
              </a:rPr>
              <a:t>Home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a:t>
            </a:r>
            <a:r>
              <a:rPr lang="en-US" sz="1600" dirty="0">
                <a:latin typeface="Times New Roman" panose="02020603050405020304" pitchFamily="18" charset="0"/>
                <a:ea typeface="Tahoma" panose="020B0604030504040204" pitchFamily="34" charset="0"/>
                <a:cs typeface="Times New Roman" panose="02020603050405020304" pitchFamily="18" charset="0"/>
              </a:rPr>
              <a:t> Men Page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1600" dirty="0">
                <a:latin typeface="Times New Roman" panose="02020603050405020304" pitchFamily="18" charset="0"/>
                <a:ea typeface="Tahoma" panose="020B0604030504040204" pitchFamily="34" charset="0"/>
                <a:cs typeface="Times New Roman" panose="02020603050405020304" pitchFamily="18" charset="0"/>
              </a:rPr>
              <a:t>Category page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a:t>
            </a:r>
            <a:r>
              <a:rPr lang="en-US" sz="1600" dirty="0">
                <a:latin typeface="Times New Roman" panose="02020603050405020304" pitchFamily="18" charset="0"/>
                <a:ea typeface="Tahoma" panose="020B0604030504040204" pitchFamily="34" charset="0"/>
                <a:cs typeface="Times New Roman" panose="02020603050405020304" pitchFamily="18" charset="0"/>
              </a:rPr>
              <a:t> Apply Filter and Sorting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Select Product </a:t>
            </a:r>
            <a:r>
              <a:rPr lang="en-US" sz="1600" dirty="0">
                <a:latin typeface="Times New Roman" panose="02020603050405020304" pitchFamily="18" charset="0"/>
                <a:ea typeface="Tahoma" panose="020B0604030504040204" pitchFamily="34" charset="0"/>
                <a:cs typeface="Times New Roman" panose="02020603050405020304" pitchFamily="18" charset="0"/>
              </a:rPr>
              <a:t> Add to Cart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a:t>
            </a:r>
            <a:r>
              <a:rPr lang="en-US" sz="1600" dirty="0">
                <a:latin typeface="Times New Roman" panose="02020603050405020304" pitchFamily="18" charset="0"/>
                <a:ea typeface="Tahoma" panose="020B0604030504040204" pitchFamily="34" charset="0"/>
                <a:cs typeface="Times New Roman" panose="02020603050405020304" pitchFamily="18" charset="0"/>
              </a:rPr>
              <a:t> Click cart and view details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Click Proceed  Click Continue as guest  Enter Shipping Details  Verifying </a:t>
            </a:r>
            <a:r>
              <a:rPr lang="en-US" sz="1600" dirty="0" err="1">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Pincode</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 </a:t>
            </a:r>
          </a:p>
          <a:p>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Payment Details Checkout</a:t>
            </a:r>
            <a:endParaRPr lang="en-US" sz="1600" dirty="0">
              <a:latin typeface="Times New Roman" panose="02020603050405020304" pitchFamily="18" charset="0"/>
              <a:ea typeface="Tahoma" panose="020B0604030504040204" pitchFamily="34" charset="0"/>
              <a:cs typeface="Times New Roman" panose="02020603050405020304" pitchFamily="18" charset="0"/>
            </a:endParaRPr>
          </a:p>
          <a:p>
            <a:r>
              <a:rPr lang="en-US" sz="1600" dirty="0">
                <a:solidFill>
                  <a:schemeClr val="accent1"/>
                </a:solidFill>
                <a:latin typeface="Times New Roman" panose="02020603050405020304" pitchFamily="18" charset="0"/>
                <a:ea typeface="Tahoma" panose="020B0604030504040204" pitchFamily="34" charset="0"/>
                <a:cs typeface="Times New Roman" panose="02020603050405020304" pitchFamily="18" charset="0"/>
              </a:rPr>
              <a:t>Expected: </a:t>
            </a:r>
            <a:r>
              <a:rPr lang="en-US" sz="1600" dirty="0">
                <a:latin typeface="Times New Roman" panose="02020603050405020304" pitchFamily="18" charset="0"/>
                <a:ea typeface="Tahoma" panose="020B0604030504040204" pitchFamily="34" charset="0"/>
                <a:cs typeface="Times New Roman" panose="02020603050405020304" pitchFamily="18" charset="0"/>
              </a:rPr>
              <a:t>Complete user journey without interruption </a:t>
            </a:r>
            <a:endParaRPr lang="en-US" sz="1600" dirty="0">
              <a:solidFill>
                <a:schemeClr val="accent1"/>
              </a:solidFill>
              <a:latin typeface="Times New Roman" panose="02020603050405020304" pitchFamily="18" charset="0"/>
              <a:ea typeface="Tahoma" panose="020B0604030504040204" pitchFamily="34" charset="0"/>
              <a:cs typeface="Times New Roman" panose="02020603050405020304" pitchFamily="18" charset="0"/>
            </a:endParaRPr>
          </a:p>
          <a:p>
            <a:r>
              <a:rPr lang="en-US" sz="1600" dirty="0">
                <a:solidFill>
                  <a:schemeClr val="accent1"/>
                </a:solidFill>
                <a:latin typeface="Times New Roman" panose="02020603050405020304" pitchFamily="18" charset="0"/>
                <a:ea typeface="Tahoma" panose="020B0604030504040204" pitchFamily="34" charset="0"/>
                <a:cs typeface="Times New Roman" panose="02020603050405020304" pitchFamily="18" charset="0"/>
              </a:rPr>
              <a:t>Result:</a:t>
            </a:r>
            <a:r>
              <a:rPr lang="en-US" sz="1600" dirty="0">
                <a:latin typeface="Times New Roman" panose="02020603050405020304" pitchFamily="18" charset="0"/>
                <a:ea typeface="Tahoma" panose="020B0604030504040204" pitchFamily="34" charset="0"/>
                <a:cs typeface="Times New Roman" panose="02020603050405020304" pitchFamily="18" charset="0"/>
              </a:rPr>
              <a:t> Pass</a:t>
            </a:r>
          </a:p>
          <a:p>
            <a:endParaRPr lang="en-IN" dirty="0"/>
          </a:p>
        </p:txBody>
      </p:sp>
    </p:spTree>
    <p:extLst>
      <p:ext uri="{BB962C8B-B14F-4D97-AF65-F5344CB8AC3E}">
        <p14:creationId xmlns:p14="http://schemas.microsoft.com/office/powerpoint/2010/main" val="2211540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887FA-E8E7-191B-2E0F-9F792532BA7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1C7EE67-C9B2-C590-D7F7-A7050826DC04}"/>
              </a:ext>
            </a:extLst>
          </p:cNvPr>
          <p:cNvSpPr>
            <a:spLocks noGrp="1"/>
          </p:cNvSpPr>
          <p:nvPr>
            <p:ph type="ftr" sz="quarter" idx="11"/>
          </p:nvPr>
        </p:nvSpPr>
        <p:spPr/>
        <p:txBody>
          <a:bodyPr/>
          <a:lstStyle/>
          <a:p>
            <a:r>
              <a:rPr lang="en-IN"/>
              <a:t>E-Commerce_Nykaa</a:t>
            </a:r>
          </a:p>
        </p:txBody>
      </p:sp>
      <p:sp>
        <p:nvSpPr>
          <p:cNvPr id="3" name="Slide Number Placeholder 2">
            <a:extLst>
              <a:ext uri="{FF2B5EF4-FFF2-40B4-BE49-F238E27FC236}">
                <a16:creationId xmlns:a16="http://schemas.microsoft.com/office/drawing/2014/main" id="{09695FAA-A436-59DF-4D15-90A147E4D2A9}"/>
              </a:ext>
            </a:extLst>
          </p:cNvPr>
          <p:cNvSpPr>
            <a:spLocks noGrp="1"/>
          </p:cNvSpPr>
          <p:nvPr>
            <p:ph type="sldNum" sz="quarter" idx="12"/>
          </p:nvPr>
        </p:nvSpPr>
        <p:spPr/>
        <p:txBody>
          <a:bodyPr/>
          <a:lstStyle/>
          <a:p>
            <a:fld id="{13B295D0-E7BB-4758-B567-6B37F217A647}" type="slidenum">
              <a:rPr lang="en-IN" smtClean="0"/>
              <a:t>6</a:t>
            </a:fld>
            <a:endParaRPr lang="en-IN"/>
          </a:p>
        </p:txBody>
      </p:sp>
      <p:sp>
        <p:nvSpPr>
          <p:cNvPr id="4" name="Content Placeholder 2">
            <a:extLst>
              <a:ext uri="{FF2B5EF4-FFF2-40B4-BE49-F238E27FC236}">
                <a16:creationId xmlns:a16="http://schemas.microsoft.com/office/drawing/2014/main" id="{6DDDDFF5-5C22-6ED8-86B6-A976CAC56F70}"/>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16" name="Footer Placeholder 1">
            <a:extLst>
              <a:ext uri="{FF2B5EF4-FFF2-40B4-BE49-F238E27FC236}">
                <a16:creationId xmlns:a16="http://schemas.microsoft.com/office/drawing/2014/main" id="{A943BA84-E2B6-2E13-64ED-8999EC40BBDB}"/>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17" name="Slide Number Placeholder 2">
            <a:extLst>
              <a:ext uri="{FF2B5EF4-FFF2-40B4-BE49-F238E27FC236}">
                <a16:creationId xmlns:a16="http://schemas.microsoft.com/office/drawing/2014/main" id="{93D0B15C-2DB7-4286-A621-FBBB7371640C}"/>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6</a:t>
            </a:fld>
            <a:endParaRPr lang="en-IN"/>
          </a:p>
        </p:txBody>
      </p:sp>
      <p:sp>
        <p:nvSpPr>
          <p:cNvPr id="18" name="Content Placeholder 2">
            <a:extLst>
              <a:ext uri="{FF2B5EF4-FFF2-40B4-BE49-F238E27FC236}">
                <a16:creationId xmlns:a16="http://schemas.microsoft.com/office/drawing/2014/main" id="{84C4987B-2CFB-4340-E302-FD62EF119BA3}"/>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19" name="Footer Placeholder 1">
            <a:extLst>
              <a:ext uri="{FF2B5EF4-FFF2-40B4-BE49-F238E27FC236}">
                <a16:creationId xmlns:a16="http://schemas.microsoft.com/office/drawing/2014/main" id="{4DF55F58-A733-F1A2-3DA6-DF4B21A6C0FF}"/>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20" name="Slide Number Placeholder 2">
            <a:extLst>
              <a:ext uri="{FF2B5EF4-FFF2-40B4-BE49-F238E27FC236}">
                <a16:creationId xmlns:a16="http://schemas.microsoft.com/office/drawing/2014/main" id="{DF61186E-FC40-7F57-907E-80B92C23E844}"/>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6</a:t>
            </a:fld>
            <a:endParaRPr lang="en-IN"/>
          </a:p>
        </p:txBody>
      </p:sp>
      <p:sp>
        <p:nvSpPr>
          <p:cNvPr id="21" name="Content Placeholder 2">
            <a:extLst>
              <a:ext uri="{FF2B5EF4-FFF2-40B4-BE49-F238E27FC236}">
                <a16:creationId xmlns:a16="http://schemas.microsoft.com/office/drawing/2014/main" id="{6D4F82BB-FF16-5D37-480D-04F0CC6A2060}"/>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22" name="Content Placeholder 2">
            <a:extLst>
              <a:ext uri="{FF2B5EF4-FFF2-40B4-BE49-F238E27FC236}">
                <a16:creationId xmlns:a16="http://schemas.microsoft.com/office/drawing/2014/main" id="{478B0C78-08F0-6B25-78D4-AB46F2CF49A4}"/>
              </a:ext>
            </a:extLst>
          </p:cNvPr>
          <p:cNvSpPr txBox="1">
            <a:spLocks/>
          </p:cNvSpPr>
          <p:nvPr/>
        </p:nvSpPr>
        <p:spPr>
          <a:xfrm>
            <a:off x="275422" y="308472"/>
            <a:ext cx="11534660"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sz="2600" b="1" dirty="0">
                <a:solidFill>
                  <a:schemeClr val="accent1"/>
                </a:solidFill>
                <a:latin typeface="Times New Roman" panose="02020603050405020304" pitchFamily="18" charset="0"/>
                <a:cs typeface="Times New Roman" panose="02020603050405020304" pitchFamily="18" charset="0"/>
              </a:rPr>
              <a:t>FRAGRANCES MODULE:</a:t>
            </a:r>
          </a:p>
          <a:p>
            <a:pPr marL="0" indent="0">
              <a:buNone/>
            </a:pPr>
            <a:r>
              <a:rPr lang="en-US" sz="1600" dirty="0">
                <a:latin typeface="Times New Roman" panose="02020603050405020304" pitchFamily="18" charset="0"/>
                <a:cs typeface="Times New Roman" panose="02020603050405020304" pitchFamily="18" charset="0"/>
              </a:rPr>
              <a:t>	This module automates the complete fragrance shopping flow on the </a:t>
            </a:r>
            <a:r>
              <a:rPr lang="en-US" sz="1600" dirty="0" err="1">
                <a:latin typeface="Times New Roman" panose="02020603050405020304" pitchFamily="18" charset="0"/>
                <a:cs typeface="Times New Roman" panose="02020603050405020304" pitchFamily="18" charset="0"/>
              </a:rPr>
              <a:t>Nykaa</a:t>
            </a:r>
            <a:r>
              <a:rPr lang="en-US" sz="1600" dirty="0">
                <a:latin typeface="Times New Roman" panose="02020603050405020304" pitchFamily="18" charset="0"/>
                <a:cs typeface="Times New Roman" panose="02020603050405020304" pitchFamily="18" charset="0"/>
              </a:rPr>
              <a:t> application. It validates key functionalities such as search, filter, product selection, cart management, and checkout process. The framework ensures end-to-end user journey testing using Selenium with POM and </a:t>
            </a:r>
            <a:r>
              <a:rPr lang="en-US" sz="1600" dirty="0" err="1">
                <a:latin typeface="Times New Roman" panose="02020603050405020304" pitchFamily="18" charset="0"/>
                <a:cs typeface="Times New Roman" panose="02020603050405020304" pitchFamily="18" charset="0"/>
              </a:rPr>
              <a:t>Pytest</a:t>
            </a:r>
            <a:r>
              <a:rPr lang="en-IN" sz="1600" dirty="0">
                <a:latin typeface="Times New Roman" panose="02020603050405020304" pitchFamily="18" charset="0"/>
                <a:cs typeface="Times New Roman" panose="02020603050405020304" pitchFamily="18" charset="0"/>
              </a:rPr>
              <a:t>.</a:t>
            </a:r>
          </a:p>
        </p:txBody>
      </p:sp>
      <p:sp>
        <p:nvSpPr>
          <p:cNvPr id="23" name="TextBox 22">
            <a:extLst>
              <a:ext uri="{FF2B5EF4-FFF2-40B4-BE49-F238E27FC236}">
                <a16:creationId xmlns:a16="http://schemas.microsoft.com/office/drawing/2014/main" id="{BE78AF3B-693D-A36A-A700-B8C71F62D2B1}"/>
              </a:ext>
            </a:extLst>
          </p:cNvPr>
          <p:cNvSpPr txBox="1"/>
          <p:nvPr/>
        </p:nvSpPr>
        <p:spPr>
          <a:xfrm>
            <a:off x="627961" y="1608463"/>
            <a:ext cx="5607585" cy="2585323"/>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Positive Test Cases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Search fragrance with valid keyword</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Apply filters (Brand, Price, Offers, Rating)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Verify sorting options (Low to High, High to Low, Popularity)</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Validate product details page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Add to bag and verify</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Update / remove items in bag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Checkout with valid details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Place order successfully</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Validate order confirmation</a:t>
            </a:r>
            <a:endParaRPr lang="en-IN" dirty="0"/>
          </a:p>
        </p:txBody>
      </p:sp>
      <p:sp>
        <p:nvSpPr>
          <p:cNvPr id="24" name="TextBox 23">
            <a:extLst>
              <a:ext uri="{FF2B5EF4-FFF2-40B4-BE49-F238E27FC236}">
                <a16:creationId xmlns:a16="http://schemas.microsoft.com/office/drawing/2014/main" id="{5EBC6B56-63B6-5AA5-6D13-7F665BE7C106}"/>
              </a:ext>
            </a:extLst>
          </p:cNvPr>
          <p:cNvSpPr txBox="1"/>
          <p:nvPr/>
        </p:nvSpPr>
        <p:spPr>
          <a:xfrm>
            <a:off x="6235546" y="1608463"/>
            <a:ext cx="5089793" cy="2339102"/>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Negative Test Cases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Search with invalid / special characters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Invalid filter combinations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Select out-of-stock product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Add quantity beyond stock limit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Incomplete delivery details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Invalid mobile number / </a:t>
            </a:r>
            <a:r>
              <a:rPr lang="en-US" sz="1600" dirty="0" err="1">
                <a:latin typeface="Times New Roman" panose="02020603050405020304" pitchFamily="18" charset="0"/>
                <a:cs typeface="Times New Roman" panose="02020603050405020304" pitchFamily="18" charset="0"/>
              </a:rPr>
              <a:t>pincode</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 payment option selected</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Checkout failure scenarios</a:t>
            </a:r>
            <a:endParaRPr lang="en-IN"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4E4ED85D-2432-20B6-3849-2FC94F8BF609}"/>
              </a:ext>
            </a:extLst>
          </p:cNvPr>
          <p:cNvSpPr txBox="1"/>
          <p:nvPr/>
        </p:nvSpPr>
        <p:spPr>
          <a:xfrm>
            <a:off x="627961" y="4224564"/>
            <a:ext cx="9871114" cy="1600438"/>
          </a:xfrm>
          <a:prstGeom prst="rect">
            <a:avLst/>
          </a:prstGeom>
          <a:noFill/>
        </p:spPr>
        <p:txBody>
          <a:bodyPr wrap="square" rtlCol="0">
            <a:spAutoFit/>
          </a:bodyPr>
          <a:lstStyle/>
          <a:p>
            <a:r>
              <a:rPr lang="en-US" b="1" dirty="0">
                <a:solidFill>
                  <a:schemeClr val="accent1"/>
                </a:solidFill>
                <a:latin typeface="Times New Roman" panose="02020603050405020304" pitchFamily="18" charset="0"/>
                <a:ea typeface="Tahoma" panose="020B0604030504040204" pitchFamily="34" charset="0"/>
                <a:cs typeface="Times New Roman" panose="02020603050405020304" pitchFamily="18" charset="0"/>
              </a:rPr>
              <a:t>End-to-End Test Case</a:t>
            </a:r>
          </a:p>
          <a:p>
            <a:r>
              <a:rPr lang="en-US" sz="1600" dirty="0">
                <a:latin typeface="Times New Roman" panose="02020603050405020304" pitchFamily="18" charset="0"/>
                <a:ea typeface="Tahoma" panose="020B0604030504040204" pitchFamily="34" charset="0"/>
                <a:cs typeface="Times New Roman" panose="02020603050405020304" pitchFamily="18" charset="0"/>
              </a:rPr>
              <a:t>Launch application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a:t>
            </a:r>
            <a:r>
              <a:rPr lang="en-US" sz="1600" dirty="0">
                <a:latin typeface="Times New Roman" panose="02020603050405020304" pitchFamily="18" charset="0"/>
                <a:ea typeface="Tahoma" panose="020B0604030504040204" pitchFamily="34" charset="0"/>
                <a:cs typeface="Times New Roman" panose="02020603050405020304" pitchFamily="18" charset="0"/>
              </a:rPr>
              <a:t> Login popup handled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1600" dirty="0">
                <a:latin typeface="Times New Roman" panose="02020603050405020304" pitchFamily="18" charset="0"/>
                <a:ea typeface="Tahoma" panose="020B0604030504040204" pitchFamily="34" charset="0"/>
                <a:cs typeface="Times New Roman" panose="02020603050405020304" pitchFamily="18" charset="0"/>
              </a:rPr>
              <a:t>Navigate to Fragrance module</a:t>
            </a:r>
          </a:p>
          <a:p>
            <a:r>
              <a:rPr lang="en-US" sz="1600" dirty="0">
                <a:latin typeface="Times New Roman" panose="02020603050405020304" pitchFamily="18" charset="0"/>
                <a:ea typeface="Tahoma" panose="020B0604030504040204" pitchFamily="34" charset="0"/>
                <a:cs typeface="Times New Roman" panose="02020603050405020304" pitchFamily="18" charset="0"/>
              </a:rPr>
              <a:t>Search + Apply filters + Sort products</a:t>
            </a:r>
          </a:p>
          <a:p>
            <a:r>
              <a:rPr lang="en-US" sz="1600" dirty="0">
                <a:latin typeface="Times New Roman" panose="02020603050405020304" pitchFamily="18" charset="0"/>
                <a:ea typeface="Tahoma" panose="020B0604030504040204" pitchFamily="34" charset="0"/>
                <a:cs typeface="Times New Roman" panose="02020603050405020304" pitchFamily="18" charset="0"/>
              </a:rPr>
              <a:t>Select product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a:t>
            </a:r>
            <a:r>
              <a:rPr lang="en-US" sz="1600" dirty="0">
                <a:latin typeface="Times New Roman" panose="02020603050405020304" pitchFamily="18" charset="0"/>
                <a:ea typeface="Tahoma" panose="020B0604030504040204" pitchFamily="34" charset="0"/>
                <a:cs typeface="Times New Roman" panose="02020603050405020304" pitchFamily="18" charset="0"/>
              </a:rPr>
              <a:t> Validate details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a:t>
            </a:r>
            <a:r>
              <a:rPr lang="en-US" sz="1600" dirty="0">
                <a:latin typeface="Times New Roman" panose="02020603050405020304" pitchFamily="18" charset="0"/>
                <a:ea typeface="Tahoma" panose="020B0604030504040204" pitchFamily="34" charset="0"/>
                <a:cs typeface="Times New Roman" panose="02020603050405020304" pitchFamily="18" charset="0"/>
              </a:rPr>
              <a:t>Add to bag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1600" dirty="0">
                <a:latin typeface="Times New Roman" panose="02020603050405020304" pitchFamily="18" charset="0"/>
                <a:ea typeface="Tahoma" panose="020B0604030504040204" pitchFamily="34" charset="0"/>
                <a:cs typeface="Times New Roman" panose="02020603050405020304" pitchFamily="18" charset="0"/>
              </a:rPr>
              <a:t>Modify cart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a:t>
            </a:r>
            <a:r>
              <a:rPr lang="en-US" sz="1600" dirty="0">
                <a:latin typeface="Times New Roman" panose="02020603050405020304" pitchFamily="18" charset="0"/>
                <a:ea typeface="Tahoma" panose="020B0604030504040204" pitchFamily="34" charset="0"/>
                <a:cs typeface="Times New Roman" panose="02020603050405020304" pitchFamily="18" charset="0"/>
              </a:rPr>
              <a:t> Proceed to checkout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a:t>
            </a:r>
            <a:r>
              <a:rPr lang="en-US" sz="1600" dirty="0">
                <a:latin typeface="Times New Roman" panose="02020603050405020304" pitchFamily="18" charset="0"/>
                <a:ea typeface="Tahoma" panose="020B0604030504040204" pitchFamily="34" charset="0"/>
                <a:cs typeface="Times New Roman" panose="02020603050405020304" pitchFamily="18" charset="0"/>
              </a:rPr>
              <a:t> Enter delivery details</a:t>
            </a:r>
          </a:p>
          <a:p>
            <a:r>
              <a:rPr lang="en-US" sz="1600" dirty="0">
                <a:latin typeface="Times New Roman" panose="02020603050405020304" pitchFamily="18" charset="0"/>
                <a:ea typeface="Tahoma" panose="020B0604030504040204" pitchFamily="34" charset="0"/>
                <a:cs typeface="Times New Roman" panose="02020603050405020304" pitchFamily="18" charset="0"/>
              </a:rPr>
              <a:t>Select payment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a:t>
            </a:r>
            <a:r>
              <a:rPr lang="en-US" sz="1600" dirty="0">
                <a:latin typeface="Times New Roman" panose="02020603050405020304" pitchFamily="18" charset="0"/>
                <a:ea typeface="Tahoma" panose="020B0604030504040204" pitchFamily="34" charset="0"/>
                <a:cs typeface="Times New Roman" panose="02020603050405020304" pitchFamily="18" charset="0"/>
              </a:rPr>
              <a:t> Place order </a:t>
            </a:r>
            <a:r>
              <a:rPr lang="en-US" sz="1600" dirty="0">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1600" dirty="0">
                <a:latin typeface="Times New Roman" panose="02020603050405020304" pitchFamily="18" charset="0"/>
                <a:ea typeface="Tahoma" panose="020B0604030504040204" pitchFamily="34" charset="0"/>
                <a:cs typeface="Times New Roman" panose="02020603050405020304" pitchFamily="18" charset="0"/>
              </a:rPr>
              <a:t>Validate order confirmation</a:t>
            </a:r>
          </a:p>
          <a:p>
            <a:r>
              <a:rPr lang="en-US" sz="1600" dirty="0">
                <a:latin typeface="Times New Roman" panose="02020603050405020304" pitchFamily="18" charset="0"/>
                <a:ea typeface="Tahoma" panose="020B0604030504040204" pitchFamily="34" charset="0"/>
                <a:cs typeface="Times New Roman" panose="02020603050405020304" pitchFamily="18" charset="0"/>
              </a:rPr>
              <a:t>Logout / Close application</a:t>
            </a:r>
            <a:endParaRPr lang="en-IN" dirty="0"/>
          </a:p>
        </p:txBody>
      </p:sp>
    </p:spTree>
    <p:extLst>
      <p:ext uri="{BB962C8B-B14F-4D97-AF65-F5344CB8AC3E}">
        <p14:creationId xmlns:p14="http://schemas.microsoft.com/office/powerpoint/2010/main" val="4249364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7D6E9-072E-467C-103A-82E1021B3CB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ABAEDE5-7248-7F4F-82CD-F108F210A987}"/>
              </a:ext>
            </a:extLst>
          </p:cNvPr>
          <p:cNvSpPr>
            <a:spLocks noGrp="1"/>
          </p:cNvSpPr>
          <p:nvPr>
            <p:ph type="ftr" sz="quarter" idx="11"/>
          </p:nvPr>
        </p:nvSpPr>
        <p:spPr/>
        <p:txBody>
          <a:bodyPr/>
          <a:lstStyle/>
          <a:p>
            <a:r>
              <a:rPr lang="en-IN"/>
              <a:t>E-Commerce_Nykaa</a:t>
            </a:r>
          </a:p>
        </p:txBody>
      </p:sp>
      <p:sp>
        <p:nvSpPr>
          <p:cNvPr id="3" name="Slide Number Placeholder 2">
            <a:extLst>
              <a:ext uri="{FF2B5EF4-FFF2-40B4-BE49-F238E27FC236}">
                <a16:creationId xmlns:a16="http://schemas.microsoft.com/office/drawing/2014/main" id="{DC50B686-8B56-0029-41D2-89A86F9C832E}"/>
              </a:ext>
            </a:extLst>
          </p:cNvPr>
          <p:cNvSpPr>
            <a:spLocks noGrp="1"/>
          </p:cNvSpPr>
          <p:nvPr>
            <p:ph type="sldNum" sz="quarter" idx="12"/>
          </p:nvPr>
        </p:nvSpPr>
        <p:spPr/>
        <p:txBody>
          <a:bodyPr/>
          <a:lstStyle/>
          <a:p>
            <a:fld id="{13B295D0-E7BB-4758-B567-6B37F217A647}" type="slidenum">
              <a:rPr lang="en-IN" smtClean="0"/>
              <a:t>7</a:t>
            </a:fld>
            <a:endParaRPr lang="en-IN"/>
          </a:p>
        </p:txBody>
      </p:sp>
      <p:sp>
        <p:nvSpPr>
          <p:cNvPr id="4" name="Content Placeholder 2">
            <a:extLst>
              <a:ext uri="{FF2B5EF4-FFF2-40B4-BE49-F238E27FC236}">
                <a16:creationId xmlns:a16="http://schemas.microsoft.com/office/drawing/2014/main" id="{C514DB18-97D5-74CD-C261-452C79B65349}"/>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6" name="Footer Placeholder 1">
            <a:extLst>
              <a:ext uri="{FF2B5EF4-FFF2-40B4-BE49-F238E27FC236}">
                <a16:creationId xmlns:a16="http://schemas.microsoft.com/office/drawing/2014/main" id="{7B10E7EB-A87E-465C-4121-686AEB8BDD23}"/>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7" name="Slide Number Placeholder 2">
            <a:extLst>
              <a:ext uri="{FF2B5EF4-FFF2-40B4-BE49-F238E27FC236}">
                <a16:creationId xmlns:a16="http://schemas.microsoft.com/office/drawing/2014/main" id="{08B73B55-D5D6-AB2C-9633-010A66795B43}"/>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7</a:t>
            </a:fld>
            <a:endParaRPr lang="en-IN"/>
          </a:p>
        </p:txBody>
      </p:sp>
      <p:sp>
        <p:nvSpPr>
          <p:cNvPr id="8" name="Content Placeholder 2">
            <a:extLst>
              <a:ext uri="{FF2B5EF4-FFF2-40B4-BE49-F238E27FC236}">
                <a16:creationId xmlns:a16="http://schemas.microsoft.com/office/drawing/2014/main" id="{6FCDF2D9-21E3-54A7-48FD-E5CD680B5A15}"/>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7724E5F8-662E-387E-132E-732CFCB79F11}"/>
              </a:ext>
            </a:extLst>
          </p:cNvPr>
          <p:cNvSpPr txBox="1">
            <a:spLocks/>
          </p:cNvSpPr>
          <p:nvPr/>
        </p:nvSpPr>
        <p:spPr>
          <a:xfrm>
            <a:off x="275422" y="308472"/>
            <a:ext cx="11534660"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sz="2600" b="1" dirty="0">
                <a:solidFill>
                  <a:schemeClr val="accent1"/>
                </a:solidFill>
                <a:latin typeface="Times New Roman" panose="02020603050405020304" pitchFamily="18" charset="0"/>
                <a:cs typeface="Times New Roman" panose="02020603050405020304" pitchFamily="18" charset="0"/>
              </a:rPr>
              <a:t>MAKEUP MODULE:</a:t>
            </a:r>
          </a:p>
          <a:p>
            <a:pPr marL="0" indent="0">
              <a:buNone/>
            </a:pPr>
            <a:r>
              <a:rPr lang="en-US"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This module automates the end-to-end Lipstick shopping flow on </a:t>
            </a:r>
            <a:r>
              <a:rPr lang="en-IN" sz="1600" dirty="0" err="1">
                <a:latin typeface="Times New Roman" panose="02020603050405020304" pitchFamily="18" charset="0"/>
                <a:cs typeface="Times New Roman" panose="02020603050405020304" pitchFamily="18" charset="0"/>
              </a:rPr>
              <a:t>Nykaa</a:t>
            </a:r>
            <a:r>
              <a:rPr lang="en-IN" sz="1600" dirty="0">
                <a:latin typeface="Times New Roman" panose="02020603050405020304" pitchFamily="18" charset="0"/>
                <a:cs typeface="Times New Roman" panose="02020603050405020304" pitchFamily="18" charset="0"/>
              </a:rPr>
              <a:t> using Selenium WebDriver with Python. It validates core functionalities such as navigation, product listing, filtering, search, cart, and checkout. Framework follows POM design pattern with </a:t>
            </a:r>
            <a:r>
              <a:rPr lang="en-IN" sz="1600" dirty="0" err="1">
                <a:latin typeface="Times New Roman" panose="02020603050405020304" pitchFamily="18" charset="0"/>
                <a:cs typeface="Times New Roman" panose="02020603050405020304" pitchFamily="18" charset="0"/>
              </a:rPr>
              <a:t>Pytest</a:t>
            </a:r>
            <a:r>
              <a:rPr lang="en-IN" sz="1600" dirty="0">
                <a:latin typeface="Times New Roman" panose="02020603050405020304" pitchFamily="18" charset="0"/>
                <a:cs typeface="Times New Roman" panose="02020603050405020304" pitchFamily="18" charset="0"/>
              </a:rPr>
              <a:t> &amp; BDD support..</a:t>
            </a:r>
          </a:p>
        </p:txBody>
      </p:sp>
      <p:sp>
        <p:nvSpPr>
          <p:cNvPr id="10" name="TextBox 9">
            <a:extLst>
              <a:ext uri="{FF2B5EF4-FFF2-40B4-BE49-F238E27FC236}">
                <a16:creationId xmlns:a16="http://schemas.microsoft.com/office/drawing/2014/main" id="{7CE9695B-CF37-BB3B-0D8E-8F55B41DACA8}"/>
              </a:ext>
            </a:extLst>
          </p:cNvPr>
          <p:cNvSpPr txBox="1"/>
          <p:nvPr/>
        </p:nvSpPr>
        <p:spPr>
          <a:xfrm>
            <a:off x="627961" y="1608463"/>
            <a:ext cx="5607585" cy="1354217"/>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Positive Test Cases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TC01: Lipstick category page load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TC02: Product display (name, price)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TC03: Filter &amp; sort functionality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TC04: Valid product search</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256F378-B692-5603-3E42-43E1FACF5AF9}"/>
              </a:ext>
            </a:extLst>
          </p:cNvPr>
          <p:cNvSpPr txBox="1"/>
          <p:nvPr/>
        </p:nvSpPr>
        <p:spPr>
          <a:xfrm>
            <a:off x="6235546" y="1608463"/>
            <a:ext cx="5089793" cy="861774"/>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Negative Test Cases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TC05: Invalid search validation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TC06: Invalid product URL handling </a:t>
            </a:r>
          </a:p>
        </p:txBody>
      </p:sp>
      <p:sp>
        <p:nvSpPr>
          <p:cNvPr id="12" name="TextBox 11">
            <a:extLst>
              <a:ext uri="{FF2B5EF4-FFF2-40B4-BE49-F238E27FC236}">
                <a16:creationId xmlns:a16="http://schemas.microsoft.com/office/drawing/2014/main" id="{9F80C206-E08D-7BB8-8C1C-CCBFD9B20C12}"/>
              </a:ext>
            </a:extLst>
          </p:cNvPr>
          <p:cNvSpPr txBox="1"/>
          <p:nvPr/>
        </p:nvSpPr>
        <p:spPr>
          <a:xfrm>
            <a:off x="535361" y="3420817"/>
            <a:ext cx="5259512" cy="1600438"/>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BDD Coverage</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Lipstick page navigation scenario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Product visibility validation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Filter &amp; sort scenario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Search functionality scenario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Negative scenarios (invalid search, invalid URL)</a:t>
            </a:r>
          </a:p>
        </p:txBody>
      </p:sp>
      <p:sp>
        <p:nvSpPr>
          <p:cNvPr id="13" name="TextBox 12">
            <a:extLst>
              <a:ext uri="{FF2B5EF4-FFF2-40B4-BE49-F238E27FC236}">
                <a16:creationId xmlns:a16="http://schemas.microsoft.com/office/drawing/2014/main" id="{79A05DDB-2FBC-ACFD-6052-AF01B5BE07C5}"/>
              </a:ext>
            </a:extLst>
          </p:cNvPr>
          <p:cNvSpPr txBox="1"/>
          <p:nvPr/>
        </p:nvSpPr>
        <p:spPr>
          <a:xfrm>
            <a:off x="6235546" y="3200842"/>
            <a:ext cx="5259512" cy="2123658"/>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Key Areas Covered</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Homepage validation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Makeup → Lipstick navigation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Product listing &amp; details validation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Search &amp; filter validation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Add to Bag &amp; Cart flow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Checkout / Payment page validation </a:t>
            </a:r>
          </a:p>
          <a:p>
            <a:endParaRPr lang="en-IN"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6217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F276B91-8118-607B-9087-15968EB6D077}"/>
              </a:ext>
            </a:extLst>
          </p:cNvPr>
          <p:cNvSpPr>
            <a:spLocks noGrp="1"/>
          </p:cNvSpPr>
          <p:nvPr>
            <p:ph type="ftr" sz="quarter" idx="11"/>
          </p:nvPr>
        </p:nvSpPr>
        <p:spPr/>
        <p:txBody>
          <a:bodyPr/>
          <a:lstStyle/>
          <a:p>
            <a:r>
              <a:rPr lang="en-IN"/>
              <a:t>E-Commerce_Nykaa</a:t>
            </a:r>
          </a:p>
        </p:txBody>
      </p:sp>
      <p:sp>
        <p:nvSpPr>
          <p:cNvPr id="3" name="Slide Number Placeholder 2">
            <a:extLst>
              <a:ext uri="{FF2B5EF4-FFF2-40B4-BE49-F238E27FC236}">
                <a16:creationId xmlns:a16="http://schemas.microsoft.com/office/drawing/2014/main" id="{517E105C-F377-D393-96F0-16D3FC0E23DF}"/>
              </a:ext>
            </a:extLst>
          </p:cNvPr>
          <p:cNvSpPr>
            <a:spLocks noGrp="1"/>
          </p:cNvSpPr>
          <p:nvPr>
            <p:ph type="sldNum" sz="quarter" idx="12"/>
          </p:nvPr>
        </p:nvSpPr>
        <p:spPr/>
        <p:txBody>
          <a:bodyPr/>
          <a:lstStyle/>
          <a:p>
            <a:fld id="{13B295D0-E7BB-4758-B567-6B37F217A647}" type="slidenum">
              <a:rPr lang="en-IN" smtClean="0"/>
              <a:t>8</a:t>
            </a:fld>
            <a:endParaRPr lang="en-IN"/>
          </a:p>
        </p:txBody>
      </p:sp>
      <p:sp>
        <p:nvSpPr>
          <p:cNvPr id="4" name="Footer Placeholder 1">
            <a:extLst>
              <a:ext uri="{FF2B5EF4-FFF2-40B4-BE49-F238E27FC236}">
                <a16:creationId xmlns:a16="http://schemas.microsoft.com/office/drawing/2014/main" id="{886BCCD2-0CFD-BD92-303D-17A45F5E5BF7}"/>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5" name="Slide Number Placeholder 2">
            <a:extLst>
              <a:ext uri="{FF2B5EF4-FFF2-40B4-BE49-F238E27FC236}">
                <a16:creationId xmlns:a16="http://schemas.microsoft.com/office/drawing/2014/main" id="{C4A4643E-6309-D1A7-DC86-A2DEEA75FE77}"/>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8</a:t>
            </a:fld>
            <a:endParaRPr lang="en-IN"/>
          </a:p>
        </p:txBody>
      </p:sp>
      <p:sp>
        <p:nvSpPr>
          <p:cNvPr id="6" name="Footer Placeholder 1">
            <a:extLst>
              <a:ext uri="{FF2B5EF4-FFF2-40B4-BE49-F238E27FC236}">
                <a16:creationId xmlns:a16="http://schemas.microsoft.com/office/drawing/2014/main" id="{EA227920-1724-9977-E71E-6541DDE6143D}"/>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7" name="Slide Number Placeholder 2">
            <a:extLst>
              <a:ext uri="{FF2B5EF4-FFF2-40B4-BE49-F238E27FC236}">
                <a16:creationId xmlns:a16="http://schemas.microsoft.com/office/drawing/2014/main" id="{980A1575-7ACB-0933-9B8E-9D3B1C89707A}"/>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8</a:t>
            </a:fld>
            <a:endParaRPr lang="en-IN"/>
          </a:p>
        </p:txBody>
      </p:sp>
      <p:sp>
        <p:nvSpPr>
          <p:cNvPr id="8" name="Content Placeholder 2">
            <a:extLst>
              <a:ext uri="{FF2B5EF4-FFF2-40B4-BE49-F238E27FC236}">
                <a16:creationId xmlns:a16="http://schemas.microsoft.com/office/drawing/2014/main" id="{7191D1F8-656E-810D-A083-CD9A6369E26B}"/>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9" name="Footer Placeholder 1">
            <a:extLst>
              <a:ext uri="{FF2B5EF4-FFF2-40B4-BE49-F238E27FC236}">
                <a16:creationId xmlns:a16="http://schemas.microsoft.com/office/drawing/2014/main" id="{9E505998-E72F-7547-0C52-DCA98DE5364A}"/>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10" name="Slide Number Placeholder 2">
            <a:extLst>
              <a:ext uri="{FF2B5EF4-FFF2-40B4-BE49-F238E27FC236}">
                <a16:creationId xmlns:a16="http://schemas.microsoft.com/office/drawing/2014/main" id="{1CBDD04F-E1DC-4141-8161-E3F5C4FF1214}"/>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8</a:t>
            </a:fld>
            <a:endParaRPr lang="en-IN"/>
          </a:p>
        </p:txBody>
      </p:sp>
      <p:sp>
        <p:nvSpPr>
          <p:cNvPr id="11" name="Content Placeholder 2">
            <a:extLst>
              <a:ext uri="{FF2B5EF4-FFF2-40B4-BE49-F238E27FC236}">
                <a16:creationId xmlns:a16="http://schemas.microsoft.com/office/drawing/2014/main" id="{1EFDFE46-EA18-E13B-B565-A766072F16DD}"/>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12" name="Footer Placeholder 1">
            <a:extLst>
              <a:ext uri="{FF2B5EF4-FFF2-40B4-BE49-F238E27FC236}">
                <a16:creationId xmlns:a16="http://schemas.microsoft.com/office/drawing/2014/main" id="{80612B8C-0210-9DAD-0CC2-91197F99BF31}"/>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13" name="Slide Number Placeholder 2">
            <a:extLst>
              <a:ext uri="{FF2B5EF4-FFF2-40B4-BE49-F238E27FC236}">
                <a16:creationId xmlns:a16="http://schemas.microsoft.com/office/drawing/2014/main" id="{5BF8E4ED-3852-FDE6-5C7A-751DF382CED7}"/>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8</a:t>
            </a:fld>
            <a:endParaRPr lang="en-IN"/>
          </a:p>
        </p:txBody>
      </p:sp>
      <p:sp>
        <p:nvSpPr>
          <p:cNvPr id="14" name="Content Placeholder 2">
            <a:extLst>
              <a:ext uri="{FF2B5EF4-FFF2-40B4-BE49-F238E27FC236}">
                <a16:creationId xmlns:a16="http://schemas.microsoft.com/office/drawing/2014/main" id="{9FD8C224-C60B-D0AE-81DD-88DBBA66418F}"/>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15" name="Content Placeholder 2">
            <a:extLst>
              <a:ext uri="{FF2B5EF4-FFF2-40B4-BE49-F238E27FC236}">
                <a16:creationId xmlns:a16="http://schemas.microsoft.com/office/drawing/2014/main" id="{7879FFF5-1953-5A3E-A0E1-7C3B0101A456}"/>
              </a:ext>
            </a:extLst>
          </p:cNvPr>
          <p:cNvSpPr txBox="1">
            <a:spLocks/>
          </p:cNvSpPr>
          <p:nvPr/>
        </p:nvSpPr>
        <p:spPr>
          <a:xfrm>
            <a:off x="275422" y="308472"/>
            <a:ext cx="11534660"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sz="2600" b="1" dirty="0">
                <a:solidFill>
                  <a:schemeClr val="accent1"/>
                </a:solidFill>
                <a:latin typeface="Times New Roman" panose="02020603050405020304" pitchFamily="18" charset="0"/>
                <a:cs typeface="Times New Roman" panose="02020603050405020304" pitchFamily="18" charset="0"/>
              </a:rPr>
              <a:t>SKIN MODULE:</a:t>
            </a:r>
          </a:p>
          <a:p>
            <a:pPr marL="0" indent="0">
              <a:buNone/>
            </a:pPr>
            <a:r>
              <a:rPr lang="en-US" sz="1600" dirty="0">
                <a:latin typeface="Times New Roman" panose="02020603050405020304" pitchFamily="18" charset="0"/>
                <a:cs typeface="Times New Roman" panose="02020603050405020304" pitchFamily="18" charset="0"/>
              </a:rPr>
              <a:t>	This module automates the complete moisturizer shopping flow on the </a:t>
            </a:r>
            <a:r>
              <a:rPr lang="en-US" sz="1600" dirty="0" err="1">
                <a:latin typeface="Times New Roman" panose="02020603050405020304" pitchFamily="18" charset="0"/>
                <a:cs typeface="Times New Roman" panose="02020603050405020304" pitchFamily="18" charset="0"/>
              </a:rPr>
              <a:t>Nykaa</a:t>
            </a:r>
            <a:r>
              <a:rPr lang="en-US" sz="1600" dirty="0">
                <a:latin typeface="Times New Roman" panose="02020603050405020304" pitchFamily="18" charset="0"/>
                <a:cs typeface="Times New Roman" panose="02020603050405020304" pitchFamily="18" charset="0"/>
              </a:rPr>
              <a:t> application. It validates key functionalities such as category navigation, product filtering, product selection, cart operations, and checkout process. The framework ensures end‑to‑end user journey testing using Selenium with POM and </a:t>
            </a:r>
            <a:r>
              <a:rPr lang="en-US" sz="1600" dirty="0" err="1">
                <a:latin typeface="Times New Roman" panose="02020603050405020304" pitchFamily="18" charset="0"/>
                <a:cs typeface="Times New Roman" panose="02020603050405020304" pitchFamily="18" charset="0"/>
              </a:rPr>
              <a:t>Pytest</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0326129-52BF-43D1-24F2-341DD2FB078C}"/>
              </a:ext>
            </a:extLst>
          </p:cNvPr>
          <p:cNvSpPr txBox="1"/>
          <p:nvPr/>
        </p:nvSpPr>
        <p:spPr>
          <a:xfrm>
            <a:off x="6308993" y="1613932"/>
            <a:ext cx="5607585" cy="1631216"/>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Positive Test Cases</a:t>
            </a:r>
          </a:p>
          <a:p>
            <a:r>
              <a:rPr lang="en-US" sz="1600" dirty="0">
                <a:latin typeface="Times New Roman" panose="02020603050405020304" pitchFamily="18" charset="0"/>
                <a:cs typeface="Times New Roman" panose="02020603050405020304" pitchFamily="18" charset="0"/>
              </a:rPr>
              <a:t>1. Cart Persistence After Page Refresh Test</a:t>
            </a:r>
          </a:p>
          <a:p>
            <a:r>
              <a:rPr lang="en-US" sz="1600" dirty="0">
                <a:latin typeface="Times New Roman" panose="02020603050405020304" pitchFamily="18" charset="0"/>
                <a:cs typeface="Times New Roman" panose="02020603050405020304" pitchFamily="18" charset="0"/>
              </a:rPr>
              <a:t>2. Multiple Product Cart Validation Test</a:t>
            </a:r>
          </a:p>
          <a:p>
            <a:r>
              <a:rPr lang="en-US" sz="1600" dirty="0">
                <a:latin typeface="Times New Roman" panose="02020603050405020304" pitchFamily="18" charset="0"/>
                <a:cs typeface="Times New Roman" panose="02020603050405020304" pitchFamily="18" charset="0"/>
              </a:rPr>
              <a:t>3. Remove Product from Cart Test</a:t>
            </a:r>
          </a:p>
          <a:p>
            <a:r>
              <a:rPr lang="en-US" sz="1600" dirty="0">
                <a:latin typeface="Times New Roman" panose="02020603050405020304" pitchFamily="18" charset="0"/>
                <a:cs typeface="Times New Roman" panose="02020603050405020304" pitchFamily="18" charset="0"/>
              </a:rPr>
              <a:t>4. Search Bar Functionality Test</a:t>
            </a:r>
          </a:p>
          <a:p>
            <a:endParaRPr lang="en-IN" b="1" dirty="0">
              <a:solidFill>
                <a:schemeClr val="accent1"/>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90975D6A-91F6-76BF-5DA7-5CE149712546}"/>
              </a:ext>
            </a:extLst>
          </p:cNvPr>
          <p:cNvSpPr txBox="1"/>
          <p:nvPr/>
        </p:nvSpPr>
        <p:spPr>
          <a:xfrm>
            <a:off x="6308993" y="3172381"/>
            <a:ext cx="5089793" cy="861774"/>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Negative Test Cases</a:t>
            </a:r>
          </a:p>
          <a:p>
            <a:r>
              <a:rPr lang="en-US" sz="1600" dirty="0">
                <a:latin typeface="Times New Roman" panose="02020603050405020304" pitchFamily="18" charset="0"/>
                <a:cs typeface="Times New Roman" panose="02020603050405020304" pitchFamily="18" charset="0"/>
              </a:rPr>
              <a:t>1. Invalid Product Search Test</a:t>
            </a:r>
          </a:p>
          <a:p>
            <a:r>
              <a:rPr lang="en-US" sz="1600" dirty="0">
                <a:latin typeface="Times New Roman" panose="02020603050405020304" pitchFamily="18" charset="0"/>
                <a:cs typeface="Times New Roman" panose="02020603050405020304" pitchFamily="18" charset="0"/>
              </a:rPr>
              <a:t>2. Proceed Button Visibility Validation for Empty Cart</a:t>
            </a:r>
          </a:p>
        </p:txBody>
      </p:sp>
      <p:sp>
        <p:nvSpPr>
          <p:cNvPr id="18" name="TextBox 17">
            <a:extLst>
              <a:ext uri="{FF2B5EF4-FFF2-40B4-BE49-F238E27FC236}">
                <a16:creationId xmlns:a16="http://schemas.microsoft.com/office/drawing/2014/main" id="{0AE6B21D-9711-FADA-D03E-5C2D539E82B3}"/>
              </a:ext>
            </a:extLst>
          </p:cNvPr>
          <p:cNvSpPr txBox="1"/>
          <p:nvPr/>
        </p:nvSpPr>
        <p:spPr>
          <a:xfrm>
            <a:off x="462707" y="1613932"/>
            <a:ext cx="5739789" cy="4093428"/>
          </a:xfrm>
          <a:prstGeom prst="rect">
            <a:avLst/>
          </a:prstGeom>
          <a:noFill/>
        </p:spPr>
        <p:txBody>
          <a:bodyPr wrap="square" rtlCol="0">
            <a:spAutoFit/>
          </a:bodyPr>
          <a:lstStyle/>
          <a:p>
            <a:r>
              <a:rPr lang="en-US" b="1" dirty="0">
                <a:solidFill>
                  <a:schemeClr val="accent1"/>
                </a:solidFill>
                <a:latin typeface="Times New Roman" panose="02020603050405020304" pitchFamily="18" charset="0"/>
                <a:ea typeface="Tahoma" panose="020B0604030504040204" pitchFamily="34" charset="0"/>
                <a:cs typeface="Times New Roman" panose="02020603050405020304" pitchFamily="18" charset="0"/>
              </a:rPr>
              <a:t>End-to-End Test Case</a:t>
            </a:r>
          </a:p>
          <a:p>
            <a:r>
              <a:rPr lang="en-US" sz="1600" dirty="0">
                <a:latin typeface="Times New Roman" panose="02020603050405020304" pitchFamily="18" charset="0"/>
                <a:cs typeface="Times New Roman" panose="02020603050405020304" pitchFamily="18" charset="0"/>
              </a:rPr>
              <a:t>1. Launch the </a:t>
            </a:r>
            <a:r>
              <a:rPr lang="en-US" sz="1600" dirty="0" err="1">
                <a:latin typeface="Times New Roman" panose="02020603050405020304" pitchFamily="18" charset="0"/>
                <a:cs typeface="Times New Roman" panose="02020603050405020304" pitchFamily="18" charset="0"/>
              </a:rPr>
              <a:t>Nykaa</a:t>
            </a:r>
            <a:r>
              <a:rPr lang="en-US" sz="1600" dirty="0">
                <a:latin typeface="Times New Roman" panose="02020603050405020304" pitchFamily="18" charset="0"/>
                <a:cs typeface="Times New Roman" panose="02020603050405020304" pitchFamily="18" charset="0"/>
              </a:rPr>
              <a:t> website.</a:t>
            </a:r>
          </a:p>
          <a:p>
            <a:r>
              <a:rPr lang="en-US" sz="1600" dirty="0">
                <a:latin typeface="Times New Roman" panose="02020603050405020304" pitchFamily="18" charset="0"/>
                <a:cs typeface="Times New Roman" panose="02020603050405020304" pitchFamily="18" charset="0"/>
              </a:rPr>
              <a:t>2. Navigate to the Skin Module from the homepage.</a:t>
            </a:r>
          </a:p>
          <a:p>
            <a:r>
              <a:rPr lang="en-US" sz="1600" dirty="0">
                <a:latin typeface="Times New Roman" panose="02020603050405020304" pitchFamily="18" charset="0"/>
                <a:cs typeface="Times New Roman" panose="02020603050405020304" pitchFamily="18" charset="0"/>
              </a:rPr>
              <a:t>3. Open the Moisturizer sub-module/category.</a:t>
            </a:r>
          </a:p>
          <a:p>
            <a:r>
              <a:rPr lang="en-US" sz="1600" dirty="0">
                <a:latin typeface="Times New Roman" panose="02020603050405020304" pitchFamily="18" charset="0"/>
                <a:cs typeface="Times New Roman" panose="02020603050405020304" pitchFamily="18" charset="0"/>
              </a:rPr>
              <a:t>4. Apply product filters such as brand selection.</a:t>
            </a:r>
          </a:p>
          <a:p>
            <a:r>
              <a:rPr lang="en-US" sz="1600" dirty="0">
                <a:latin typeface="Times New Roman" panose="02020603050405020304" pitchFamily="18" charset="0"/>
                <a:cs typeface="Times New Roman" panose="02020603050405020304" pitchFamily="18" charset="0"/>
              </a:rPr>
              <a:t>5. Select the brand CeraVe.</a:t>
            </a:r>
          </a:p>
          <a:p>
            <a:r>
              <a:rPr lang="en-US" sz="1600" dirty="0">
                <a:latin typeface="Times New Roman" panose="02020603050405020304" pitchFamily="18" charset="0"/>
                <a:cs typeface="Times New Roman" panose="02020603050405020304" pitchFamily="18" charset="0"/>
              </a:rPr>
              <a:t>6. Choose the first product from the filtered product list.</a:t>
            </a:r>
          </a:p>
          <a:p>
            <a:r>
              <a:rPr lang="en-US" sz="1600" dirty="0">
                <a:latin typeface="Times New Roman" panose="02020603050405020304" pitchFamily="18" charset="0"/>
                <a:cs typeface="Times New Roman" panose="02020603050405020304" pitchFamily="18" charset="0"/>
              </a:rPr>
              <a:t>7. Redirect to the product details page.</a:t>
            </a:r>
          </a:p>
          <a:p>
            <a:r>
              <a:rPr lang="en-US" sz="1600" dirty="0">
                <a:latin typeface="Times New Roman" panose="02020603050405020304" pitchFamily="18" charset="0"/>
                <a:cs typeface="Times New Roman" panose="02020603050405020304" pitchFamily="18" charset="0"/>
              </a:rPr>
              <a:t>8. Validate product information and availability.</a:t>
            </a:r>
          </a:p>
          <a:p>
            <a:r>
              <a:rPr lang="en-US" sz="1600" dirty="0">
                <a:latin typeface="Times New Roman" panose="02020603050405020304" pitchFamily="18" charset="0"/>
                <a:cs typeface="Times New Roman" panose="02020603050405020304" pitchFamily="18" charset="0"/>
              </a:rPr>
              <a:t>9. Click on Add to Bag.</a:t>
            </a:r>
          </a:p>
          <a:p>
            <a:r>
              <a:rPr lang="en-US" sz="1600" dirty="0">
                <a:latin typeface="Times New Roman" panose="02020603050405020304" pitchFamily="18" charset="0"/>
                <a:cs typeface="Times New Roman" panose="02020603050405020304" pitchFamily="18" charset="0"/>
              </a:rPr>
              <a:t>10. Open the shopping cart/bag section.</a:t>
            </a:r>
          </a:p>
          <a:p>
            <a:r>
              <a:rPr lang="en-US" sz="1600" dirty="0">
                <a:latin typeface="Times New Roman" panose="02020603050405020304" pitchFamily="18" charset="0"/>
                <a:cs typeface="Times New Roman" panose="02020603050405020304" pitchFamily="18" charset="0"/>
              </a:rPr>
              <a:t>11. Validate added product in the cart.</a:t>
            </a:r>
          </a:p>
          <a:p>
            <a:r>
              <a:rPr lang="en-US" sz="1600" dirty="0">
                <a:latin typeface="Times New Roman" panose="02020603050405020304" pitchFamily="18" charset="0"/>
                <a:cs typeface="Times New Roman" panose="02020603050405020304" pitchFamily="18" charset="0"/>
              </a:rPr>
              <a:t>12. Click on Proceed to continue checkout flow.</a:t>
            </a:r>
          </a:p>
          <a:p>
            <a:r>
              <a:rPr lang="en-US" sz="1600" dirty="0">
                <a:latin typeface="Times New Roman" panose="02020603050405020304" pitchFamily="18" charset="0"/>
                <a:cs typeface="Times New Roman" panose="02020603050405020304" pitchFamily="18" charset="0"/>
              </a:rPr>
              <a:t>13. Verify successful navigation towards checkout/payment process.</a:t>
            </a:r>
          </a:p>
          <a:p>
            <a:endParaRPr lang="en-IN" dirty="0"/>
          </a:p>
        </p:txBody>
      </p:sp>
    </p:spTree>
    <p:extLst>
      <p:ext uri="{BB962C8B-B14F-4D97-AF65-F5344CB8AC3E}">
        <p14:creationId xmlns:p14="http://schemas.microsoft.com/office/powerpoint/2010/main" val="3799473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128493-D4AA-A1D2-3938-72D393889CDD}"/>
              </a:ext>
            </a:extLst>
          </p:cNvPr>
          <p:cNvSpPr>
            <a:spLocks noGrp="1"/>
          </p:cNvSpPr>
          <p:nvPr>
            <p:ph type="ftr" sz="quarter" idx="11"/>
          </p:nvPr>
        </p:nvSpPr>
        <p:spPr/>
        <p:txBody>
          <a:bodyPr/>
          <a:lstStyle/>
          <a:p>
            <a:r>
              <a:rPr lang="en-IN"/>
              <a:t>E-Commerce_Nykaa</a:t>
            </a:r>
          </a:p>
        </p:txBody>
      </p:sp>
      <p:sp>
        <p:nvSpPr>
          <p:cNvPr id="3" name="Slide Number Placeholder 2">
            <a:extLst>
              <a:ext uri="{FF2B5EF4-FFF2-40B4-BE49-F238E27FC236}">
                <a16:creationId xmlns:a16="http://schemas.microsoft.com/office/drawing/2014/main" id="{FE3C31FD-4D6F-2AFA-C0EA-17C35DE238AE}"/>
              </a:ext>
            </a:extLst>
          </p:cNvPr>
          <p:cNvSpPr>
            <a:spLocks noGrp="1"/>
          </p:cNvSpPr>
          <p:nvPr>
            <p:ph type="sldNum" sz="quarter" idx="12"/>
          </p:nvPr>
        </p:nvSpPr>
        <p:spPr/>
        <p:txBody>
          <a:bodyPr/>
          <a:lstStyle/>
          <a:p>
            <a:fld id="{13B295D0-E7BB-4758-B567-6B37F217A647}" type="slidenum">
              <a:rPr lang="en-IN" smtClean="0"/>
              <a:t>9</a:t>
            </a:fld>
            <a:endParaRPr lang="en-IN"/>
          </a:p>
        </p:txBody>
      </p:sp>
      <p:sp>
        <p:nvSpPr>
          <p:cNvPr id="4" name="Footer Placeholder 1">
            <a:extLst>
              <a:ext uri="{FF2B5EF4-FFF2-40B4-BE49-F238E27FC236}">
                <a16:creationId xmlns:a16="http://schemas.microsoft.com/office/drawing/2014/main" id="{B05BB6BA-582A-68C2-089B-C472FFE9F714}"/>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5" name="Slide Number Placeholder 2">
            <a:extLst>
              <a:ext uri="{FF2B5EF4-FFF2-40B4-BE49-F238E27FC236}">
                <a16:creationId xmlns:a16="http://schemas.microsoft.com/office/drawing/2014/main" id="{BFC59D7C-9E00-619E-B2FC-5D84D41C906C}"/>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9</a:t>
            </a:fld>
            <a:endParaRPr lang="en-IN"/>
          </a:p>
        </p:txBody>
      </p:sp>
      <p:sp>
        <p:nvSpPr>
          <p:cNvPr id="6" name="Footer Placeholder 1">
            <a:extLst>
              <a:ext uri="{FF2B5EF4-FFF2-40B4-BE49-F238E27FC236}">
                <a16:creationId xmlns:a16="http://schemas.microsoft.com/office/drawing/2014/main" id="{9503370B-D182-C53C-1568-273EE9533715}"/>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7" name="Slide Number Placeholder 2">
            <a:extLst>
              <a:ext uri="{FF2B5EF4-FFF2-40B4-BE49-F238E27FC236}">
                <a16:creationId xmlns:a16="http://schemas.microsoft.com/office/drawing/2014/main" id="{3EB72A23-DD63-C590-3900-8D087601DDD4}"/>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9</a:t>
            </a:fld>
            <a:endParaRPr lang="en-IN"/>
          </a:p>
        </p:txBody>
      </p:sp>
      <p:sp>
        <p:nvSpPr>
          <p:cNvPr id="8" name="Footer Placeholder 1">
            <a:extLst>
              <a:ext uri="{FF2B5EF4-FFF2-40B4-BE49-F238E27FC236}">
                <a16:creationId xmlns:a16="http://schemas.microsoft.com/office/drawing/2014/main" id="{E08220EA-8AF3-48CC-357A-1F65C639CE32}"/>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9" name="Slide Number Placeholder 2">
            <a:extLst>
              <a:ext uri="{FF2B5EF4-FFF2-40B4-BE49-F238E27FC236}">
                <a16:creationId xmlns:a16="http://schemas.microsoft.com/office/drawing/2014/main" id="{DAEE8143-8ACC-355F-A9A7-08A74FB07023}"/>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9</a:t>
            </a:fld>
            <a:endParaRPr lang="en-IN"/>
          </a:p>
        </p:txBody>
      </p:sp>
      <p:sp>
        <p:nvSpPr>
          <p:cNvPr id="10" name="Content Placeholder 2">
            <a:extLst>
              <a:ext uri="{FF2B5EF4-FFF2-40B4-BE49-F238E27FC236}">
                <a16:creationId xmlns:a16="http://schemas.microsoft.com/office/drawing/2014/main" id="{21A1D8CE-2C87-86B5-F21A-00A94D1588B5}"/>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11" name="Footer Placeholder 1">
            <a:extLst>
              <a:ext uri="{FF2B5EF4-FFF2-40B4-BE49-F238E27FC236}">
                <a16:creationId xmlns:a16="http://schemas.microsoft.com/office/drawing/2014/main" id="{14F290BF-547A-66A9-D020-3516492D20D9}"/>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12" name="Slide Number Placeholder 2">
            <a:extLst>
              <a:ext uri="{FF2B5EF4-FFF2-40B4-BE49-F238E27FC236}">
                <a16:creationId xmlns:a16="http://schemas.microsoft.com/office/drawing/2014/main" id="{A5BF7334-9621-5910-7C58-B9E8528284C5}"/>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9</a:t>
            </a:fld>
            <a:endParaRPr lang="en-IN"/>
          </a:p>
        </p:txBody>
      </p:sp>
      <p:sp>
        <p:nvSpPr>
          <p:cNvPr id="13" name="Content Placeholder 2">
            <a:extLst>
              <a:ext uri="{FF2B5EF4-FFF2-40B4-BE49-F238E27FC236}">
                <a16:creationId xmlns:a16="http://schemas.microsoft.com/office/drawing/2014/main" id="{230CCF62-05FC-D95C-9A38-7A962A5054AB}"/>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14" name="Footer Placeholder 1">
            <a:extLst>
              <a:ext uri="{FF2B5EF4-FFF2-40B4-BE49-F238E27FC236}">
                <a16:creationId xmlns:a16="http://schemas.microsoft.com/office/drawing/2014/main" id="{58B4B3D3-5621-11C2-E099-CFA59265B39C}"/>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15" name="Slide Number Placeholder 2">
            <a:extLst>
              <a:ext uri="{FF2B5EF4-FFF2-40B4-BE49-F238E27FC236}">
                <a16:creationId xmlns:a16="http://schemas.microsoft.com/office/drawing/2014/main" id="{E9B0A190-29A9-45B8-BBC6-7B6BFE41A1AB}"/>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9</a:t>
            </a:fld>
            <a:endParaRPr lang="en-IN"/>
          </a:p>
        </p:txBody>
      </p:sp>
      <p:sp>
        <p:nvSpPr>
          <p:cNvPr id="16" name="Content Placeholder 2">
            <a:extLst>
              <a:ext uri="{FF2B5EF4-FFF2-40B4-BE49-F238E27FC236}">
                <a16:creationId xmlns:a16="http://schemas.microsoft.com/office/drawing/2014/main" id="{D1B941D6-3DE8-F124-0936-2EEC6CAF463C}"/>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17" name="Content Placeholder 2">
            <a:extLst>
              <a:ext uri="{FF2B5EF4-FFF2-40B4-BE49-F238E27FC236}">
                <a16:creationId xmlns:a16="http://schemas.microsoft.com/office/drawing/2014/main" id="{015FD76E-66DC-DF90-1E1D-6A2D961C942D}"/>
              </a:ext>
            </a:extLst>
          </p:cNvPr>
          <p:cNvSpPr txBox="1">
            <a:spLocks/>
          </p:cNvSpPr>
          <p:nvPr/>
        </p:nvSpPr>
        <p:spPr>
          <a:xfrm>
            <a:off x="275422" y="308472"/>
            <a:ext cx="11534660"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sz="2600" b="1" dirty="0">
                <a:solidFill>
                  <a:schemeClr val="accent1"/>
                </a:solidFill>
                <a:latin typeface="Times New Roman" panose="02020603050405020304" pitchFamily="18" charset="0"/>
                <a:cs typeface="Times New Roman" panose="02020603050405020304" pitchFamily="18" charset="0"/>
              </a:rPr>
              <a:t>HEALTH AND WELLNESS MODULE:</a:t>
            </a:r>
          </a:p>
          <a:p>
            <a:pPr marL="0" indent="0">
              <a:buNone/>
            </a:pPr>
            <a:r>
              <a:rPr lang="en-US" sz="1600" dirty="0">
                <a:latin typeface="Times New Roman" panose="02020603050405020304" pitchFamily="18" charset="0"/>
                <a:cs typeface="Times New Roman" panose="02020603050405020304" pitchFamily="18" charset="0"/>
              </a:rPr>
              <a:t>	This module automates the complete Health &amp; Wellness shopping flow on the </a:t>
            </a:r>
            <a:r>
              <a:rPr lang="en-US" sz="1600" dirty="0" err="1">
                <a:latin typeface="Times New Roman" panose="02020603050405020304" pitchFamily="18" charset="0"/>
                <a:cs typeface="Times New Roman" panose="02020603050405020304" pitchFamily="18" charset="0"/>
              </a:rPr>
              <a:t>Nykaa</a:t>
            </a:r>
            <a:r>
              <a:rPr lang="en-US" sz="1600" dirty="0">
                <a:latin typeface="Times New Roman" panose="02020603050405020304" pitchFamily="18" charset="0"/>
                <a:cs typeface="Times New Roman" panose="02020603050405020304" pitchFamily="18" charset="0"/>
              </a:rPr>
              <a:t> application. It validates key functionalities such as product search, filter validation, product selection, cart operations, and checkout process. The framework ensures end‑to‑end user journey testing using Selenium with POM and </a:t>
            </a:r>
            <a:r>
              <a:rPr lang="en-US" sz="1600" dirty="0" err="1">
                <a:latin typeface="Times New Roman" panose="02020603050405020304" pitchFamily="18" charset="0"/>
                <a:cs typeface="Times New Roman" panose="02020603050405020304" pitchFamily="18" charset="0"/>
              </a:rPr>
              <a:t>Pytest</a:t>
            </a:r>
            <a:r>
              <a:rPr lang="en-US" sz="1600" dirty="0">
                <a:latin typeface="Times New Roman" panose="02020603050405020304" pitchFamily="18" charset="0"/>
                <a:cs typeface="Times New Roman" panose="02020603050405020304" pitchFamily="18" charset="0"/>
              </a:rPr>
              <a:t>.</a:t>
            </a:r>
          </a:p>
          <a:p>
            <a:pPr marL="0" indent="0">
              <a:buNone/>
            </a:pPr>
            <a:endParaRPr lang="en-IN" sz="160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9BDE928D-1EAE-7B14-50EF-2A6165BC4993}"/>
              </a:ext>
            </a:extLst>
          </p:cNvPr>
          <p:cNvSpPr txBox="1"/>
          <p:nvPr/>
        </p:nvSpPr>
        <p:spPr>
          <a:xfrm>
            <a:off x="6613760" y="1670212"/>
            <a:ext cx="5607585" cy="2616101"/>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Positive Test Cases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Module Navigation Validation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Product Search Functionality</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Product Display Validation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Filter &amp; Sort Functionality</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Product Detail Page Validation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Add to Bag Functionality</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Cart Validation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Proceed to Buy Validation</a:t>
            </a:r>
          </a:p>
          <a:p>
            <a:endParaRPr lang="en-IN" b="1" dirty="0">
              <a:solidFill>
                <a:schemeClr val="accent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346F0CF0-5B07-3842-49C1-1824B861A1F9}"/>
              </a:ext>
            </a:extLst>
          </p:cNvPr>
          <p:cNvSpPr txBox="1"/>
          <p:nvPr/>
        </p:nvSpPr>
        <p:spPr>
          <a:xfrm>
            <a:off x="6544019" y="4133043"/>
            <a:ext cx="5089793" cy="1354217"/>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Negative Test Cases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Invalid Product Search</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Empty Search Validation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Invalid Quantity Selection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Invalid Product URL</a:t>
            </a:r>
          </a:p>
        </p:txBody>
      </p:sp>
      <p:sp>
        <p:nvSpPr>
          <p:cNvPr id="20" name="TextBox 19">
            <a:extLst>
              <a:ext uri="{FF2B5EF4-FFF2-40B4-BE49-F238E27FC236}">
                <a16:creationId xmlns:a16="http://schemas.microsoft.com/office/drawing/2014/main" id="{7C3ACA24-A237-9B98-FEAB-980B84ADBC69}"/>
              </a:ext>
            </a:extLst>
          </p:cNvPr>
          <p:cNvSpPr txBox="1"/>
          <p:nvPr/>
        </p:nvSpPr>
        <p:spPr>
          <a:xfrm>
            <a:off x="462708" y="1670212"/>
            <a:ext cx="5739789" cy="1877437"/>
          </a:xfrm>
          <a:prstGeom prst="rect">
            <a:avLst/>
          </a:prstGeom>
          <a:noFill/>
        </p:spPr>
        <p:txBody>
          <a:bodyPr wrap="square" rtlCol="0">
            <a:spAutoFit/>
          </a:bodyPr>
          <a:lstStyle/>
          <a:p>
            <a:r>
              <a:rPr lang="en-US" b="1" dirty="0">
                <a:solidFill>
                  <a:schemeClr val="accent1"/>
                </a:solidFill>
                <a:latin typeface="Times New Roman" panose="02020603050405020304" pitchFamily="18" charset="0"/>
                <a:ea typeface="Tahoma" panose="020B0604030504040204" pitchFamily="34" charset="0"/>
                <a:cs typeface="Times New Roman" panose="02020603050405020304" pitchFamily="18" charset="0"/>
              </a:rPr>
              <a:t>End-to-End Flow</a:t>
            </a:r>
          </a:p>
          <a:p>
            <a:r>
              <a:rPr lang="en-IN" sz="1600" dirty="0">
                <a:latin typeface="Times New Roman" panose="02020603050405020304" pitchFamily="18" charset="0"/>
                <a:cs typeface="Times New Roman" panose="02020603050405020304" pitchFamily="18" charset="0"/>
              </a:rPr>
              <a:t>Launch application → Navigate to Health &amp; Wellness module → Search product → Validate listing → Apply filters &amp; sorting → Select product → Validate details → Add to bag → Open cart → Update quantity → Proceed to checkout → Verify payment/login page</a:t>
            </a:r>
          </a:p>
          <a:p>
            <a:endParaRPr lang="en-IN" dirty="0"/>
          </a:p>
        </p:txBody>
      </p:sp>
      <p:sp>
        <p:nvSpPr>
          <p:cNvPr id="21" name="TextBox 20">
            <a:extLst>
              <a:ext uri="{FF2B5EF4-FFF2-40B4-BE49-F238E27FC236}">
                <a16:creationId xmlns:a16="http://schemas.microsoft.com/office/drawing/2014/main" id="{7B950380-BE43-67A4-69FC-8FBCF324E515}"/>
              </a:ext>
            </a:extLst>
          </p:cNvPr>
          <p:cNvSpPr txBox="1"/>
          <p:nvPr/>
        </p:nvSpPr>
        <p:spPr>
          <a:xfrm>
            <a:off x="462708" y="3547649"/>
            <a:ext cx="5739789" cy="2616101"/>
          </a:xfrm>
          <a:prstGeom prst="rect">
            <a:avLst/>
          </a:prstGeom>
          <a:noFill/>
        </p:spPr>
        <p:txBody>
          <a:bodyPr wrap="square" rtlCol="0">
            <a:spAutoFit/>
          </a:bodyPr>
          <a:lstStyle/>
          <a:p>
            <a:r>
              <a:rPr lang="en-US" b="1" dirty="0">
                <a:solidFill>
                  <a:schemeClr val="accent1"/>
                </a:solidFill>
                <a:latin typeface="Times New Roman" panose="02020603050405020304" pitchFamily="18" charset="0"/>
                <a:ea typeface="Tahoma" panose="020B0604030504040204" pitchFamily="34" charset="0"/>
                <a:cs typeface="Times New Roman" panose="02020603050405020304" pitchFamily="18" charset="0"/>
              </a:rPr>
              <a:t>BDD Feature Scenarios</a:t>
            </a:r>
          </a:p>
          <a:p>
            <a:pPr marL="285750" indent="-285750">
              <a:buFont typeface="Arial" panose="020B0604020202020204" pitchFamily="34" charset="0"/>
              <a:buChar char="•"/>
            </a:pPr>
            <a:r>
              <a:rPr lang="en-IN" sz="1600" dirty="0"/>
              <a:t>Health &amp; Wellness Module Navigation</a:t>
            </a:r>
          </a:p>
          <a:p>
            <a:pPr marL="285750" indent="-285750">
              <a:buFont typeface="Arial" panose="020B0604020202020204" pitchFamily="34" charset="0"/>
              <a:buChar char="•"/>
            </a:pPr>
            <a:r>
              <a:rPr lang="en-IN" sz="1600" dirty="0"/>
              <a:t>Product Search Functionality</a:t>
            </a:r>
          </a:p>
          <a:p>
            <a:pPr marL="285750" indent="-285750">
              <a:buFont typeface="Arial" panose="020B0604020202020204" pitchFamily="34" charset="0"/>
              <a:buChar char="•"/>
            </a:pPr>
            <a:r>
              <a:rPr lang="en-IN" sz="1600" dirty="0"/>
              <a:t>Product Display Validation</a:t>
            </a:r>
          </a:p>
          <a:p>
            <a:pPr marL="285750" indent="-285750">
              <a:buFont typeface="Arial" panose="020B0604020202020204" pitchFamily="34" charset="0"/>
              <a:buChar char="•"/>
            </a:pPr>
            <a:r>
              <a:rPr lang="en-IN" sz="1600" dirty="0"/>
              <a:t>Filter &amp; Sort Functionality</a:t>
            </a:r>
          </a:p>
          <a:p>
            <a:pPr marL="285750" indent="-285750">
              <a:buFont typeface="Arial" panose="020B0604020202020204" pitchFamily="34" charset="0"/>
              <a:buChar char="•"/>
            </a:pPr>
            <a:r>
              <a:rPr lang="en-IN" sz="1600" dirty="0"/>
              <a:t>Add to Bag Functionality</a:t>
            </a:r>
          </a:p>
          <a:p>
            <a:pPr marL="285750" indent="-285750">
              <a:buFont typeface="Arial" panose="020B0604020202020204" pitchFamily="34" charset="0"/>
              <a:buChar char="•"/>
            </a:pPr>
            <a:r>
              <a:rPr lang="en-IN" sz="1600" dirty="0"/>
              <a:t>Cart Validation</a:t>
            </a:r>
          </a:p>
          <a:p>
            <a:pPr marL="285750" indent="-285750">
              <a:buFont typeface="Arial" panose="020B0604020202020204" pitchFamily="34" charset="0"/>
              <a:buChar char="•"/>
            </a:pPr>
            <a:r>
              <a:rPr lang="en-IN" sz="1600" dirty="0"/>
              <a:t>Invalid Search (Negative)</a:t>
            </a:r>
          </a:p>
          <a:p>
            <a:pPr marL="285750" indent="-285750">
              <a:buFont typeface="Arial" panose="020B0604020202020204" pitchFamily="34" charset="0"/>
              <a:buChar char="•"/>
            </a:pPr>
            <a:r>
              <a:rPr lang="en-IN" sz="1600" dirty="0"/>
              <a:t>Invalid Product URL (Negative)</a:t>
            </a:r>
          </a:p>
          <a:p>
            <a:endParaRPr lang="en-IN" dirty="0"/>
          </a:p>
        </p:txBody>
      </p:sp>
    </p:spTree>
    <p:extLst>
      <p:ext uri="{BB962C8B-B14F-4D97-AF65-F5344CB8AC3E}">
        <p14:creationId xmlns:p14="http://schemas.microsoft.com/office/powerpoint/2010/main" val="740740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4D22A48-F621-D0BF-0A7B-A387F44385AE}"/>
              </a:ext>
            </a:extLst>
          </p:cNvPr>
          <p:cNvSpPr>
            <a:spLocks noGrp="1"/>
          </p:cNvSpPr>
          <p:nvPr>
            <p:ph type="ftr" sz="quarter" idx="11"/>
          </p:nvPr>
        </p:nvSpPr>
        <p:spPr/>
        <p:txBody>
          <a:bodyPr/>
          <a:lstStyle/>
          <a:p>
            <a:r>
              <a:rPr lang="en-IN"/>
              <a:t>E-Commerce_Nykaa</a:t>
            </a:r>
          </a:p>
        </p:txBody>
      </p:sp>
      <p:sp>
        <p:nvSpPr>
          <p:cNvPr id="3" name="Slide Number Placeholder 2">
            <a:extLst>
              <a:ext uri="{FF2B5EF4-FFF2-40B4-BE49-F238E27FC236}">
                <a16:creationId xmlns:a16="http://schemas.microsoft.com/office/drawing/2014/main" id="{558AE2F0-3B6A-5388-F03E-623DAA0E59DA}"/>
              </a:ext>
            </a:extLst>
          </p:cNvPr>
          <p:cNvSpPr>
            <a:spLocks noGrp="1"/>
          </p:cNvSpPr>
          <p:nvPr>
            <p:ph type="sldNum" sz="quarter" idx="12"/>
          </p:nvPr>
        </p:nvSpPr>
        <p:spPr/>
        <p:txBody>
          <a:bodyPr/>
          <a:lstStyle/>
          <a:p>
            <a:fld id="{13B295D0-E7BB-4758-B567-6B37F217A647}" type="slidenum">
              <a:rPr lang="en-IN" smtClean="0"/>
              <a:t>10</a:t>
            </a:fld>
            <a:endParaRPr lang="en-IN"/>
          </a:p>
        </p:txBody>
      </p:sp>
      <p:sp>
        <p:nvSpPr>
          <p:cNvPr id="4" name="Footer Placeholder 1">
            <a:extLst>
              <a:ext uri="{FF2B5EF4-FFF2-40B4-BE49-F238E27FC236}">
                <a16:creationId xmlns:a16="http://schemas.microsoft.com/office/drawing/2014/main" id="{854517FD-EC92-D197-1FAA-BBCE66CDD25B}"/>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5" name="Slide Number Placeholder 2">
            <a:extLst>
              <a:ext uri="{FF2B5EF4-FFF2-40B4-BE49-F238E27FC236}">
                <a16:creationId xmlns:a16="http://schemas.microsoft.com/office/drawing/2014/main" id="{5563736A-C2A4-4BB1-BDCA-848E5517E029}"/>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10</a:t>
            </a:fld>
            <a:endParaRPr lang="en-IN"/>
          </a:p>
        </p:txBody>
      </p:sp>
      <p:sp>
        <p:nvSpPr>
          <p:cNvPr id="6" name="Footer Placeholder 1">
            <a:extLst>
              <a:ext uri="{FF2B5EF4-FFF2-40B4-BE49-F238E27FC236}">
                <a16:creationId xmlns:a16="http://schemas.microsoft.com/office/drawing/2014/main" id="{D545DE32-4A36-D793-1180-4F5D5B968F32}"/>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7" name="Slide Number Placeholder 2">
            <a:extLst>
              <a:ext uri="{FF2B5EF4-FFF2-40B4-BE49-F238E27FC236}">
                <a16:creationId xmlns:a16="http://schemas.microsoft.com/office/drawing/2014/main" id="{2662F41B-152D-FBEE-563B-222EA340E3F4}"/>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10</a:t>
            </a:fld>
            <a:endParaRPr lang="en-IN"/>
          </a:p>
        </p:txBody>
      </p:sp>
      <p:sp>
        <p:nvSpPr>
          <p:cNvPr id="8" name="Footer Placeholder 1">
            <a:extLst>
              <a:ext uri="{FF2B5EF4-FFF2-40B4-BE49-F238E27FC236}">
                <a16:creationId xmlns:a16="http://schemas.microsoft.com/office/drawing/2014/main" id="{00903A5D-49B5-8D26-AAC7-7C703ADF7672}"/>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9" name="Slide Number Placeholder 2">
            <a:extLst>
              <a:ext uri="{FF2B5EF4-FFF2-40B4-BE49-F238E27FC236}">
                <a16:creationId xmlns:a16="http://schemas.microsoft.com/office/drawing/2014/main" id="{2CD0A9C3-2867-5D2E-07ED-ABE895611444}"/>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10</a:t>
            </a:fld>
            <a:endParaRPr lang="en-IN"/>
          </a:p>
        </p:txBody>
      </p:sp>
      <p:sp>
        <p:nvSpPr>
          <p:cNvPr id="10" name="Footer Placeholder 1">
            <a:extLst>
              <a:ext uri="{FF2B5EF4-FFF2-40B4-BE49-F238E27FC236}">
                <a16:creationId xmlns:a16="http://schemas.microsoft.com/office/drawing/2014/main" id="{41035302-227F-6A7C-E5C8-B552939D26C4}"/>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11" name="Slide Number Placeholder 2">
            <a:extLst>
              <a:ext uri="{FF2B5EF4-FFF2-40B4-BE49-F238E27FC236}">
                <a16:creationId xmlns:a16="http://schemas.microsoft.com/office/drawing/2014/main" id="{133107A2-02F2-DCF8-7F9A-535E90C8902F}"/>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10</a:t>
            </a:fld>
            <a:endParaRPr lang="en-IN"/>
          </a:p>
        </p:txBody>
      </p:sp>
      <p:sp>
        <p:nvSpPr>
          <p:cNvPr id="12" name="Content Placeholder 2">
            <a:extLst>
              <a:ext uri="{FF2B5EF4-FFF2-40B4-BE49-F238E27FC236}">
                <a16:creationId xmlns:a16="http://schemas.microsoft.com/office/drawing/2014/main" id="{974F9402-EF71-5525-670D-7E3163A70CA3}"/>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13" name="Footer Placeholder 1">
            <a:extLst>
              <a:ext uri="{FF2B5EF4-FFF2-40B4-BE49-F238E27FC236}">
                <a16:creationId xmlns:a16="http://schemas.microsoft.com/office/drawing/2014/main" id="{89FF047F-23AD-7AE4-34DD-15FFB870B737}"/>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14" name="Slide Number Placeholder 2">
            <a:extLst>
              <a:ext uri="{FF2B5EF4-FFF2-40B4-BE49-F238E27FC236}">
                <a16:creationId xmlns:a16="http://schemas.microsoft.com/office/drawing/2014/main" id="{B3691BD9-093A-44BE-60B5-00814F8ADC52}"/>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10</a:t>
            </a:fld>
            <a:endParaRPr lang="en-IN"/>
          </a:p>
        </p:txBody>
      </p:sp>
      <p:sp>
        <p:nvSpPr>
          <p:cNvPr id="15" name="Content Placeholder 2">
            <a:extLst>
              <a:ext uri="{FF2B5EF4-FFF2-40B4-BE49-F238E27FC236}">
                <a16:creationId xmlns:a16="http://schemas.microsoft.com/office/drawing/2014/main" id="{F73F604C-242E-A661-2EBA-425668B79A75}"/>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16" name="Footer Placeholder 1">
            <a:extLst>
              <a:ext uri="{FF2B5EF4-FFF2-40B4-BE49-F238E27FC236}">
                <a16:creationId xmlns:a16="http://schemas.microsoft.com/office/drawing/2014/main" id="{C1F26E5B-491A-B3A7-B365-AC9079077F22}"/>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E-Commerce_Nykaa</a:t>
            </a:r>
          </a:p>
        </p:txBody>
      </p:sp>
      <p:sp>
        <p:nvSpPr>
          <p:cNvPr id="17" name="Slide Number Placeholder 2">
            <a:extLst>
              <a:ext uri="{FF2B5EF4-FFF2-40B4-BE49-F238E27FC236}">
                <a16:creationId xmlns:a16="http://schemas.microsoft.com/office/drawing/2014/main" id="{8F68D742-E663-33CE-D956-B565960844D9}"/>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3B295D0-E7BB-4758-B567-6B37F217A647}" type="slidenum">
              <a:rPr lang="en-IN" smtClean="0"/>
              <a:pPr/>
              <a:t>10</a:t>
            </a:fld>
            <a:endParaRPr lang="en-IN"/>
          </a:p>
        </p:txBody>
      </p:sp>
      <p:sp>
        <p:nvSpPr>
          <p:cNvPr id="18" name="Content Placeholder 2">
            <a:extLst>
              <a:ext uri="{FF2B5EF4-FFF2-40B4-BE49-F238E27FC236}">
                <a16:creationId xmlns:a16="http://schemas.microsoft.com/office/drawing/2014/main" id="{04D1BBBB-0374-602B-9E51-195D31886139}"/>
              </a:ext>
            </a:extLst>
          </p:cNvPr>
          <p:cNvSpPr txBox="1">
            <a:spLocks/>
          </p:cNvSpPr>
          <p:nvPr/>
        </p:nvSpPr>
        <p:spPr>
          <a:xfrm>
            <a:off x="462708" y="308472"/>
            <a:ext cx="11171104"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19" name="Content Placeholder 2">
            <a:extLst>
              <a:ext uri="{FF2B5EF4-FFF2-40B4-BE49-F238E27FC236}">
                <a16:creationId xmlns:a16="http://schemas.microsoft.com/office/drawing/2014/main" id="{40334DB6-317E-5F55-67CD-AB69F5CE6564}"/>
              </a:ext>
            </a:extLst>
          </p:cNvPr>
          <p:cNvSpPr txBox="1">
            <a:spLocks/>
          </p:cNvSpPr>
          <p:nvPr/>
        </p:nvSpPr>
        <p:spPr>
          <a:xfrm>
            <a:off x="275422" y="308472"/>
            <a:ext cx="11534660" cy="5663364"/>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sz="2600" b="1" dirty="0">
                <a:solidFill>
                  <a:schemeClr val="accent1"/>
                </a:solidFill>
                <a:latin typeface="Times New Roman" panose="02020603050405020304" pitchFamily="18" charset="0"/>
                <a:cs typeface="Times New Roman" panose="02020603050405020304" pitchFamily="18" charset="0"/>
              </a:rPr>
              <a:t>MOM AND BABY MODULE:</a:t>
            </a:r>
          </a:p>
          <a:p>
            <a:pPr marL="0" indent="0" algn="just">
              <a:buNone/>
            </a:pPr>
            <a:r>
              <a:rPr lang="en-US" sz="1600" dirty="0">
                <a:latin typeface="Times New Roman" panose="02020603050405020304" pitchFamily="18" charset="0"/>
                <a:cs typeface="Times New Roman" panose="02020603050405020304" pitchFamily="18" charset="0"/>
              </a:rPr>
              <a:t>	</a:t>
            </a:r>
            <a:r>
              <a:rPr lang="en-US" sz="1600" dirty="0"/>
              <a:t>This module focuses on testing the Baby Care category in the </a:t>
            </a:r>
            <a:r>
              <a:rPr lang="en-US" sz="1600" dirty="0" err="1"/>
              <a:t>Nykaa</a:t>
            </a:r>
            <a:r>
              <a:rPr lang="en-US" sz="1600" dirty="0"/>
              <a:t> application. It validates functionalities like navigation, filtering, product selection, and cart flow using BDD scenarios. The automation framework is implemented using Selenium, </a:t>
            </a:r>
            <a:r>
              <a:rPr lang="en-US" sz="1600" dirty="0" err="1"/>
              <a:t>Pytest</a:t>
            </a:r>
            <a:r>
              <a:rPr lang="en-US" sz="1600" dirty="0"/>
              <a:t>, and POM design pattern.</a:t>
            </a:r>
            <a:endParaRPr lang="en-IN" sz="16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1FA5ED1D-3F87-CD5C-062D-E7429AC0ACBF}"/>
              </a:ext>
            </a:extLst>
          </p:cNvPr>
          <p:cNvSpPr txBox="1"/>
          <p:nvPr/>
        </p:nvSpPr>
        <p:spPr>
          <a:xfrm>
            <a:off x="6613760" y="1670212"/>
            <a:ext cx="5607585" cy="2369880"/>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Positive Test Cases</a:t>
            </a:r>
          </a:p>
          <a:p>
            <a:r>
              <a:rPr lang="en-IN" sz="1600" dirty="0">
                <a:latin typeface="Times New Roman" panose="02020603050405020304" pitchFamily="18" charset="0"/>
                <a:cs typeface="Times New Roman" panose="02020603050405020304" pitchFamily="18" charset="0"/>
              </a:rPr>
              <a:t>Navigate to Baby Care category → Page load validation </a:t>
            </a:r>
          </a:p>
          <a:p>
            <a:r>
              <a:rPr lang="en-IN" sz="1600" dirty="0">
                <a:latin typeface="Times New Roman" panose="02020603050405020304" pitchFamily="18" charset="0"/>
                <a:cs typeface="Times New Roman" panose="02020603050405020304" pitchFamily="18" charset="0"/>
              </a:rPr>
              <a:t>Verify product display (names &amp; prices) </a:t>
            </a:r>
          </a:p>
          <a:p>
            <a:r>
              <a:rPr lang="en-IN" sz="1600" dirty="0">
                <a:latin typeface="Times New Roman" panose="02020603050405020304" pitchFamily="18" charset="0"/>
                <a:cs typeface="Times New Roman" panose="02020603050405020304" pitchFamily="18" charset="0"/>
              </a:rPr>
              <a:t>Apply Brand filter (</a:t>
            </a:r>
            <a:r>
              <a:rPr lang="en-IN" sz="1600" dirty="0" err="1">
                <a:latin typeface="Times New Roman" panose="02020603050405020304" pitchFamily="18" charset="0"/>
                <a:cs typeface="Times New Roman" panose="02020603050405020304" pitchFamily="18" charset="0"/>
              </a:rPr>
              <a:t>Mamaearth</a:t>
            </a:r>
            <a:r>
              <a:rPr lang="en-IN" sz="1600" dirty="0">
                <a:latin typeface="Times New Roman" panose="02020603050405020304" pitchFamily="18" charset="0"/>
                <a:cs typeface="Times New Roman" panose="02020603050405020304" pitchFamily="18" charset="0"/>
              </a:rPr>
              <a:t>) → Products displayed </a:t>
            </a:r>
          </a:p>
          <a:p>
            <a:r>
              <a:rPr lang="en-IN" sz="1600" dirty="0">
                <a:latin typeface="Times New Roman" panose="02020603050405020304" pitchFamily="18" charset="0"/>
                <a:cs typeface="Times New Roman" panose="02020603050405020304" pitchFamily="18" charset="0"/>
              </a:rPr>
              <a:t>Apply Discount filter (10% and above) → Products displayed </a:t>
            </a:r>
          </a:p>
          <a:p>
            <a:r>
              <a:rPr lang="en-IN" sz="1600" dirty="0">
                <a:latin typeface="Times New Roman" panose="02020603050405020304" pitchFamily="18" charset="0"/>
                <a:cs typeface="Times New Roman" panose="02020603050405020304" pitchFamily="18" charset="0"/>
              </a:rPr>
              <a:t>Product selection → Product details validation </a:t>
            </a:r>
          </a:p>
          <a:p>
            <a:r>
              <a:rPr lang="en-IN" sz="1600" dirty="0">
                <a:latin typeface="Times New Roman" panose="02020603050405020304" pitchFamily="18" charset="0"/>
                <a:cs typeface="Times New Roman" panose="02020603050405020304" pitchFamily="18" charset="0"/>
              </a:rPr>
              <a:t>Add to Bag → Cart validation </a:t>
            </a:r>
          </a:p>
          <a:p>
            <a:r>
              <a:rPr lang="en-IN" sz="1600" dirty="0">
                <a:latin typeface="Times New Roman" panose="02020603050405020304" pitchFamily="18" charset="0"/>
                <a:cs typeface="Times New Roman" panose="02020603050405020304" pitchFamily="18" charset="0"/>
              </a:rPr>
              <a:t>Proceed to Buy → Payment/Login page reached </a:t>
            </a:r>
          </a:p>
          <a:p>
            <a:endParaRPr lang="en-IN" b="1" dirty="0">
              <a:solidFill>
                <a:schemeClr val="accent1"/>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EC78E54A-4BAB-DDC8-C266-BDAE6C482AAC}"/>
              </a:ext>
            </a:extLst>
          </p:cNvPr>
          <p:cNvSpPr txBox="1"/>
          <p:nvPr/>
        </p:nvSpPr>
        <p:spPr>
          <a:xfrm>
            <a:off x="6544019" y="3914734"/>
            <a:ext cx="5089793" cy="1354217"/>
          </a:xfrm>
          <a:prstGeom prst="rect">
            <a:avLst/>
          </a:prstGeom>
          <a:noFill/>
        </p:spPr>
        <p:txBody>
          <a:bodyPr wrap="square" rtlCol="0">
            <a:spAutoFit/>
          </a:bodyPr>
          <a:lstStyle/>
          <a:p>
            <a:r>
              <a:rPr lang="en-IN" b="1" dirty="0">
                <a:solidFill>
                  <a:schemeClr val="accent1"/>
                </a:solidFill>
                <a:latin typeface="Times New Roman" panose="02020603050405020304" pitchFamily="18" charset="0"/>
                <a:cs typeface="Times New Roman" panose="02020603050405020304" pitchFamily="18" charset="0"/>
              </a:rPr>
              <a:t>Negative Test Cases</a:t>
            </a:r>
          </a:p>
          <a:p>
            <a:r>
              <a:rPr lang="en-IN" sz="1600" dirty="0">
                <a:latin typeface="Times New Roman" panose="02020603050405020304" pitchFamily="18" charset="0"/>
                <a:cs typeface="Times New Roman" panose="02020603050405020304" pitchFamily="18" charset="0"/>
              </a:rPr>
              <a:t>Invalid brand search → No results displayed</a:t>
            </a:r>
          </a:p>
          <a:p>
            <a:r>
              <a:rPr lang="en-IN" sz="1600" dirty="0">
                <a:latin typeface="Times New Roman" panose="02020603050405020304" pitchFamily="18" charset="0"/>
                <a:cs typeface="Times New Roman" panose="02020603050405020304" pitchFamily="18" charset="0"/>
              </a:rPr>
              <a:t>Invalid discount (150%) → Option not available</a:t>
            </a:r>
          </a:p>
          <a:p>
            <a:r>
              <a:rPr lang="en-IN" sz="1600" dirty="0">
                <a:latin typeface="Times New Roman" panose="02020603050405020304" pitchFamily="18" charset="0"/>
                <a:cs typeface="Times New Roman" panose="02020603050405020304" pitchFamily="18" charset="0"/>
              </a:rPr>
              <a:t>Filter error handling → Page should not crash</a:t>
            </a:r>
          </a:p>
          <a:p>
            <a:r>
              <a:rPr lang="en-IN" sz="1600" dirty="0">
                <a:latin typeface="Times New Roman" panose="02020603050405020304" pitchFamily="18" charset="0"/>
                <a:cs typeface="Times New Roman" panose="02020603050405020304" pitchFamily="18" charset="0"/>
              </a:rPr>
              <a:t>Invalid input scenarios handled properly</a:t>
            </a:r>
          </a:p>
        </p:txBody>
      </p:sp>
      <p:sp>
        <p:nvSpPr>
          <p:cNvPr id="22" name="TextBox 21">
            <a:extLst>
              <a:ext uri="{FF2B5EF4-FFF2-40B4-BE49-F238E27FC236}">
                <a16:creationId xmlns:a16="http://schemas.microsoft.com/office/drawing/2014/main" id="{12787CAB-E470-CD04-2947-AC212E40CF4A}"/>
              </a:ext>
            </a:extLst>
          </p:cNvPr>
          <p:cNvSpPr txBox="1"/>
          <p:nvPr/>
        </p:nvSpPr>
        <p:spPr>
          <a:xfrm>
            <a:off x="462708" y="1670212"/>
            <a:ext cx="5739789" cy="2339102"/>
          </a:xfrm>
          <a:prstGeom prst="rect">
            <a:avLst/>
          </a:prstGeom>
          <a:noFill/>
        </p:spPr>
        <p:txBody>
          <a:bodyPr wrap="square" rtlCol="0">
            <a:spAutoFit/>
          </a:bodyPr>
          <a:lstStyle/>
          <a:p>
            <a:r>
              <a:rPr lang="en-US" b="1" dirty="0">
                <a:solidFill>
                  <a:schemeClr val="accent1"/>
                </a:solidFill>
                <a:latin typeface="Times New Roman" panose="02020603050405020304" pitchFamily="18" charset="0"/>
                <a:ea typeface="Tahoma" panose="020B0604030504040204" pitchFamily="34" charset="0"/>
                <a:cs typeface="Times New Roman" panose="02020603050405020304" pitchFamily="18" charset="0"/>
              </a:rPr>
              <a:t>End-to-End Flow</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Launch application → Navigate to Mom &amp; Baby module</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Open Baby Care category</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Apply Brand + Discount filters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Select product → Add to Bag</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Open Cart → Proceed to Checkout</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Continue as Guest → Enter shipping details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Validate navigation to Payment Gateway</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Data-driven execution using CSV</a:t>
            </a:r>
          </a:p>
        </p:txBody>
      </p:sp>
      <p:sp>
        <p:nvSpPr>
          <p:cNvPr id="23" name="TextBox 22">
            <a:extLst>
              <a:ext uri="{FF2B5EF4-FFF2-40B4-BE49-F238E27FC236}">
                <a16:creationId xmlns:a16="http://schemas.microsoft.com/office/drawing/2014/main" id="{AE417E24-038F-AC25-6377-E7B3B80909A1}"/>
              </a:ext>
            </a:extLst>
          </p:cNvPr>
          <p:cNvSpPr txBox="1"/>
          <p:nvPr/>
        </p:nvSpPr>
        <p:spPr>
          <a:xfrm>
            <a:off x="405027" y="4009314"/>
            <a:ext cx="5739789" cy="2092881"/>
          </a:xfrm>
          <a:prstGeom prst="rect">
            <a:avLst/>
          </a:prstGeom>
          <a:noFill/>
        </p:spPr>
        <p:txBody>
          <a:bodyPr wrap="square" rtlCol="0">
            <a:spAutoFit/>
          </a:bodyPr>
          <a:lstStyle/>
          <a:p>
            <a:r>
              <a:rPr lang="en-US" b="1" dirty="0">
                <a:solidFill>
                  <a:schemeClr val="accent1"/>
                </a:solidFill>
                <a:latin typeface="Times New Roman" panose="02020603050405020304" pitchFamily="18" charset="0"/>
                <a:ea typeface="Tahoma" panose="020B0604030504040204" pitchFamily="34" charset="0"/>
                <a:cs typeface="Times New Roman" panose="02020603050405020304" pitchFamily="18" charset="0"/>
              </a:rPr>
              <a:t>BDD Feature Scenarios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Category navigation validation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Product display verification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Brand filter functionality</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Search functionality</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Invalid filter handling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End-to-end checkout flow</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Payment page validation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9832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D3AA6CF-CEE8-2C5A-C496-6E877DA906EA}"/>
              </a:ext>
            </a:extLst>
          </p:cNvPr>
          <p:cNvSpPr>
            <a:spLocks noGrp="1"/>
          </p:cNvSpPr>
          <p:nvPr>
            <p:ph type="ftr" sz="quarter" idx="11"/>
          </p:nvPr>
        </p:nvSpPr>
        <p:spPr/>
        <p:txBody>
          <a:bodyPr/>
          <a:lstStyle/>
          <a:p>
            <a:r>
              <a:rPr lang="en-IN"/>
              <a:t>E-Commerce_Nykaa</a:t>
            </a:r>
          </a:p>
        </p:txBody>
      </p:sp>
      <p:sp>
        <p:nvSpPr>
          <p:cNvPr id="3" name="Slide Number Placeholder 2">
            <a:extLst>
              <a:ext uri="{FF2B5EF4-FFF2-40B4-BE49-F238E27FC236}">
                <a16:creationId xmlns:a16="http://schemas.microsoft.com/office/drawing/2014/main" id="{8C4D7394-2027-982A-8710-1A49CBF02A1C}"/>
              </a:ext>
            </a:extLst>
          </p:cNvPr>
          <p:cNvSpPr>
            <a:spLocks noGrp="1"/>
          </p:cNvSpPr>
          <p:nvPr>
            <p:ph type="sldNum" sz="quarter" idx="12"/>
          </p:nvPr>
        </p:nvSpPr>
        <p:spPr/>
        <p:txBody>
          <a:bodyPr/>
          <a:lstStyle/>
          <a:p>
            <a:fld id="{13B295D0-E7BB-4758-B567-6B37F217A647}" type="slidenum">
              <a:rPr lang="en-IN" smtClean="0"/>
              <a:t>11</a:t>
            </a:fld>
            <a:endParaRPr lang="en-IN"/>
          </a:p>
        </p:txBody>
      </p:sp>
      <p:sp>
        <p:nvSpPr>
          <p:cNvPr id="4" name="Title 3">
            <a:extLst>
              <a:ext uri="{FF2B5EF4-FFF2-40B4-BE49-F238E27FC236}">
                <a16:creationId xmlns:a16="http://schemas.microsoft.com/office/drawing/2014/main" id="{76CE8035-22ED-39DE-1D39-7D4C77090484}"/>
              </a:ext>
            </a:extLst>
          </p:cNvPr>
          <p:cNvSpPr>
            <a:spLocks noGrp="1"/>
          </p:cNvSpPr>
          <p:nvPr>
            <p:ph type="title" idx="4294967295"/>
          </p:nvPr>
        </p:nvSpPr>
        <p:spPr>
          <a:xfrm>
            <a:off x="2133600" y="2578847"/>
            <a:ext cx="10058400" cy="1449387"/>
          </a:xfrm>
        </p:spPr>
        <p:txBody>
          <a:bodyPr>
            <a:normAutofit/>
          </a:bodyPr>
          <a:lstStyle/>
          <a:p>
            <a:r>
              <a:rPr lang="en-US" sz="9000" b="1" dirty="0">
                <a:solidFill>
                  <a:schemeClr val="accent1"/>
                </a:solidFill>
                <a:latin typeface="Times New Roman" panose="02020603050405020304" pitchFamily="18" charset="0"/>
                <a:cs typeface="Times New Roman" panose="02020603050405020304" pitchFamily="18" charset="0"/>
              </a:rPr>
              <a:t>THANK YOU</a:t>
            </a:r>
            <a:endParaRPr lang="en-IN" sz="90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7164744"/>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265</TotalTime>
  <Words>1722</Words>
  <Application>Microsoft Office PowerPoint</Application>
  <PresentationFormat>Widescreen</PresentationFormat>
  <Paragraphs>272</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Times New Roman</vt:lpstr>
      <vt:lpstr>Wingdings</vt:lpstr>
      <vt:lpstr>Retrospect</vt:lpstr>
      <vt:lpstr>PowerPoint Presentation</vt:lpstr>
      <vt:lpstr>CONTRIBUTION OF THE TEAM</vt:lpstr>
      <vt:lpstr>Test Automation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Yoga Lakshmi N</dc:creator>
  <cp:lastModifiedBy>Yoga Lakshmi N</cp:lastModifiedBy>
  <cp:revision>1</cp:revision>
  <dcterms:created xsi:type="dcterms:W3CDTF">2026-05-24T15:18:30Z</dcterms:created>
  <dcterms:modified xsi:type="dcterms:W3CDTF">2026-05-25T04:09:39Z</dcterms:modified>
</cp:coreProperties>
</file>